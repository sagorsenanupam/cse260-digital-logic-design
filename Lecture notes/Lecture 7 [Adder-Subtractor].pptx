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oleObject" PartName="/ppt/embeddings/oleObject3.bin"/>
  <Override ContentType="application/vnd.openxmlformats-officedocument.oleObject" PartName="/ppt/embeddings/oleObject2.bin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6858000" cx="9144000"/>
  <p:notesSz cx="6858000" cy="9144000"/>
  <p:embeddedFontLst>
    <p:embeddedFont>
      <p:font typeface="Noto Sans Symbols"/>
      <p:regular r:id="rId39"/>
      <p:bold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1" roundtripDataSignature="AMtx7mhjZiBOcfM4RJesnePUYJGUPKEL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0FF9D44-25B9-411E-B779-2A3952B94EEA}">
  <a:tblStyle styleId="{E0FF9D44-25B9-411E-B779-2A3952B94EE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otoSansSymbols-bold.fntdata"/><Relationship Id="rId20" Type="http://schemas.openxmlformats.org/officeDocument/2006/relationships/slide" Target="slides/slide14.xml"/><Relationship Id="rId41" Type="http://customschemas.google.com/relationships/presentationmetadata" Target="meta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NotoSansSymbols-regular.fntdata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3.v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92" name="Google Shape;19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10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f7f70b6f4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g2f7f70b6f4e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5" name="Google Shape;285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7" name="Google Shape;297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4" name="Google Shape;344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7" name="Google Shape;357;p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6" name="Google Shape;426;p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2" name="Google Shape;432;p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5" name="Google Shape;465;p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1" name="Google Shape;471;p2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9" name="Google Shape;509;p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3" name="Google Shape;593;p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9" name="Google Shape;689;p3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6" name="Google Shape;706;p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4" name="Google Shape;804;p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0" name="Google Shape;810;p2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2" name="Google Shape;982;p3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8" name="Google Shape;988;p3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5" name="Google Shape;1005;p3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7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7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7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7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8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8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8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8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9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9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0" name="Google Shape;30;p39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39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2" name="Google Shape;32;p39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39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9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0"/>
          <p:cNvSpPr txBox="1"/>
          <p:nvPr>
            <p:ph type="title"/>
          </p:nvPr>
        </p:nvSpPr>
        <p:spPr>
          <a:xfrm rot="5400000">
            <a:off x="4743450" y="2381250"/>
            <a:ext cx="54864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0"/>
          <p:cNvSpPr txBox="1"/>
          <p:nvPr>
            <p:ph idx="1" type="body"/>
          </p:nvPr>
        </p:nvSpPr>
        <p:spPr>
          <a:xfrm rot="5400000">
            <a:off x="781050" y="514350"/>
            <a:ext cx="5486400" cy="56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40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0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1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1"/>
          <p:cNvSpPr txBox="1"/>
          <p:nvPr>
            <p:ph idx="1" type="body"/>
          </p:nvPr>
        </p:nvSpPr>
        <p:spPr>
          <a:xfrm rot="5400000">
            <a:off x="2514600" y="152400"/>
            <a:ext cx="41148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41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2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2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42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42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3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3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43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43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4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4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5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5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6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6"/>
          <p:cNvSpPr txBox="1"/>
          <p:nvPr>
            <p:ph idx="1" type="body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46"/>
          <p:cNvSpPr txBox="1"/>
          <p:nvPr>
            <p:ph idx="2" type="body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6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6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7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7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81" name="Google Shape;81;p47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7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 amt="24000"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6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" name="Google Shape;11;p36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36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3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Google Shape;14;p36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vmlDrawing" Target="../drawings/vmlDrawing2.vml"/><Relationship Id="rId4" Type="http://schemas.openxmlformats.org/officeDocument/2006/relationships/oleObject" Target="../embeddings/oleObject2.bin"/><Relationship Id="rId5" Type="http://schemas.openxmlformats.org/officeDocument/2006/relationships/oleObject" Target="../embeddings/oleObject2.bin"/><Relationship Id="rId6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vmlDrawing" Target="../drawings/vmlDrawing3.vml"/><Relationship Id="rId4" Type="http://schemas.openxmlformats.org/officeDocument/2006/relationships/oleObject" Target="../embeddings/oleObject3.bin"/><Relationship Id="rId5" Type="http://schemas.openxmlformats.org/officeDocument/2006/relationships/oleObject" Target="../embeddings/oleObject3.bin"/><Relationship Id="rId6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381000" y="4572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CSE 260 DIGITAL LOGIC DESIGN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Combinational Circuits- 1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11430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sp>
        <p:nvSpPr>
          <p:cNvPr id="95" name="Google Shape;95;p2"/>
          <p:cNvSpPr txBox="1"/>
          <p:nvPr>
            <p:ph idx="1" type="body"/>
          </p:nvPr>
        </p:nvSpPr>
        <p:spPr>
          <a:xfrm>
            <a:off x="1143000" y="1219200"/>
            <a:ext cx="7772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classes of logic circuits: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0066FF"/>
              </a:buClr>
              <a:buSzPts val="1980"/>
              <a:buFont typeface="Noto Sans Symbols"/>
              <a:buChar char="❖"/>
            </a:pPr>
            <a:r>
              <a:rPr b="0" i="0" lang="en-US" sz="2200" u="none">
                <a:solidFill>
                  <a:srgbClr val="0066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2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combinational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0000FF"/>
              </a:buClr>
              <a:buSzPts val="1980"/>
              <a:buFont typeface="Noto Sans Symbols"/>
              <a:buChar char="❖"/>
            </a:pPr>
            <a:r>
              <a:rPr b="0" i="0" lang="en-US" sz="22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sequential</a:t>
            </a:r>
            <a:endParaRPr b="0" i="0" sz="2000" u="non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FF"/>
              </a:buClr>
              <a:buSzPts val="2880"/>
              <a:buFont typeface="Noto Sans Symbols"/>
              <a:buChar char="▪"/>
            </a:pPr>
            <a:r>
              <a:rPr b="1" i="0" lang="en-US" sz="24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Combinational Circuit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</p:txBody>
      </p:sp>
      <p:grpSp>
        <p:nvGrpSpPr>
          <p:cNvPr id="96" name="Google Shape;96;p2"/>
          <p:cNvGrpSpPr/>
          <p:nvPr/>
        </p:nvGrpSpPr>
        <p:grpSpPr>
          <a:xfrm>
            <a:off x="1447800" y="3810000"/>
            <a:ext cx="6400800" cy="1371600"/>
            <a:chOff x="864" y="2304"/>
            <a:chExt cx="4032" cy="864"/>
          </a:xfrm>
        </p:grpSpPr>
        <p:grpSp>
          <p:nvGrpSpPr>
            <p:cNvPr id="97" name="Google Shape;97;p2"/>
            <p:cNvGrpSpPr/>
            <p:nvPr/>
          </p:nvGrpSpPr>
          <p:grpSpPr>
            <a:xfrm>
              <a:off x="2208" y="2304"/>
              <a:ext cx="1296" cy="864"/>
              <a:chOff x="2208" y="2304"/>
              <a:chExt cx="1296" cy="864"/>
            </a:xfrm>
          </p:grpSpPr>
          <p:sp>
            <p:nvSpPr>
              <p:cNvPr id="98" name="Google Shape;98;p2"/>
              <p:cNvSpPr txBox="1"/>
              <p:nvPr/>
            </p:nvSpPr>
            <p:spPr>
              <a:xfrm>
                <a:off x="2208" y="2304"/>
                <a:ext cx="1296" cy="864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9" name="Google Shape;99;p2"/>
              <p:cNvSpPr txBox="1"/>
              <p:nvPr/>
            </p:nvSpPr>
            <p:spPr>
              <a:xfrm>
                <a:off x="2256" y="2544"/>
                <a:ext cx="1152" cy="4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Times New Roman"/>
                  <a:buNone/>
                </a:pPr>
                <a:r>
                  <a:rPr b="1" i="0" lang="en-US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Combinational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Times New Roman"/>
                  <a:buNone/>
                </a:pPr>
                <a:r>
                  <a:rPr b="1" i="0" lang="en-US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Logic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0" name="Google Shape;100;p2"/>
            <p:cNvGrpSpPr/>
            <p:nvPr/>
          </p:nvGrpSpPr>
          <p:grpSpPr>
            <a:xfrm>
              <a:off x="1536" y="2448"/>
              <a:ext cx="672" cy="576"/>
              <a:chOff x="1536" y="2448"/>
              <a:chExt cx="672" cy="576"/>
            </a:xfrm>
          </p:grpSpPr>
          <p:cxnSp>
            <p:nvCxnSpPr>
              <p:cNvPr id="101" name="Google Shape;101;p2"/>
              <p:cNvCxnSpPr/>
              <p:nvPr/>
            </p:nvCxnSpPr>
            <p:spPr>
              <a:xfrm>
                <a:off x="1536" y="2448"/>
                <a:ext cx="672" cy="0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02" name="Google Shape;102;p2"/>
              <p:cNvCxnSpPr/>
              <p:nvPr/>
            </p:nvCxnSpPr>
            <p:spPr>
              <a:xfrm>
                <a:off x="1536" y="2544"/>
                <a:ext cx="672" cy="0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03" name="Google Shape;103;p2"/>
              <p:cNvCxnSpPr/>
              <p:nvPr/>
            </p:nvCxnSpPr>
            <p:spPr>
              <a:xfrm>
                <a:off x="1536" y="2640"/>
                <a:ext cx="672" cy="0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04" name="Google Shape;104;p2"/>
              <p:cNvCxnSpPr/>
              <p:nvPr/>
            </p:nvCxnSpPr>
            <p:spPr>
              <a:xfrm>
                <a:off x="1536" y="2928"/>
                <a:ext cx="672" cy="0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05" name="Google Shape;105;p2"/>
              <p:cNvCxnSpPr/>
              <p:nvPr/>
            </p:nvCxnSpPr>
            <p:spPr>
              <a:xfrm>
                <a:off x="1536" y="3024"/>
                <a:ext cx="672" cy="0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06" name="Google Shape;106;p2"/>
              <p:cNvSpPr txBox="1"/>
              <p:nvPr/>
            </p:nvSpPr>
            <p:spPr>
              <a:xfrm>
                <a:off x="1728" y="2592"/>
                <a:ext cx="38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: :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7" name="Google Shape;107;p2"/>
            <p:cNvGrpSpPr/>
            <p:nvPr/>
          </p:nvGrpSpPr>
          <p:grpSpPr>
            <a:xfrm>
              <a:off x="3504" y="2448"/>
              <a:ext cx="672" cy="576"/>
              <a:chOff x="1536" y="2448"/>
              <a:chExt cx="672" cy="576"/>
            </a:xfrm>
          </p:grpSpPr>
          <p:cxnSp>
            <p:nvCxnSpPr>
              <p:cNvPr id="108" name="Google Shape;108;p2"/>
              <p:cNvCxnSpPr/>
              <p:nvPr/>
            </p:nvCxnSpPr>
            <p:spPr>
              <a:xfrm>
                <a:off x="1536" y="2448"/>
                <a:ext cx="672" cy="0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09" name="Google Shape;109;p2"/>
              <p:cNvCxnSpPr/>
              <p:nvPr/>
            </p:nvCxnSpPr>
            <p:spPr>
              <a:xfrm>
                <a:off x="1536" y="2544"/>
                <a:ext cx="672" cy="0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10" name="Google Shape;110;p2"/>
              <p:cNvCxnSpPr/>
              <p:nvPr/>
            </p:nvCxnSpPr>
            <p:spPr>
              <a:xfrm>
                <a:off x="1536" y="2640"/>
                <a:ext cx="672" cy="0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11" name="Google Shape;111;p2"/>
              <p:cNvCxnSpPr/>
              <p:nvPr/>
            </p:nvCxnSpPr>
            <p:spPr>
              <a:xfrm>
                <a:off x="1536" y="2928"/>
                <a:ext cx="672" cy="0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12" name="Google Shape;112;p2"/>
              <p:cNvCxnSpPr/>
              <p:nvPr/>
            </p:nvCxnSpPr>
            <p:spPr>
              <a:xfrm>
                <a:off x="1536" y="3024"/>
                <a:ext cx="672" cy="0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13" name="Google Shape;113;p2"/>
              <p:cNvSpPr txBox="1"/>
              <p:nvPr/>
            </p:nvSpPr>
            <p:spPr>
              <a:xfrm>
                <a:off x="1728" y="2592"/>
                <a:ext cx="38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: :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4" name="Google Shape;114;p2"/>
            <p:cNvSpPr txBox="1"/>
            <p:nvPr/>
          </p:nvSpPr>
          <p:spPr>
            <a:xfrm>
              <a:off x="864" y="2592"/>
              <a:ext cx="67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inputs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"/>
            <p:cNvSpPr txBox="1"/>
            <p:nvPr/>
          </p:nvSpPr>
          <p:spPr>
            <a:xfrm>
              <a:off x="4224" y="2592"/>
              <a:ext cx="67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outputs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 txBox="1"/>
          <p:nvPr>
            <p:ph type="title"/>
          </p:nvPr>
        </p:nvSpPr>
        <p:spPr>
          <a:xfrm>
            <a:off x="630237" y="10477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Combinational Circuit vs. Sequential Circuit</a:t>
            </a:r>
            <a:endParaRPr/>
          </a:p>
        </p:txBody>
      </p:sp>
      <p:sp>
        <p:nvSpPr>
          <p:cNvPr id="121" name="Google Shape;121;p3"/>
          <p:cNvSpPr txBox="1"/>
          <p:nvPr>
            <p:ph idx="1" type="body"/>
          </p:nvPr>
        </p:nvSpPr>
        <p:spPr>
          <a:xfrm>
            <a:off x="1587" y="1433512"/>
            <a:ext cx="4613275" cy="471487"/>
          </a:xfrm>
          <a:prstGeom prst="rect">
            <a:avLst/>
          </a:prstGeom>
          <a:solidFill>
            <a:srgbClr val="DDF3EA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Combinational</a:t>
            </a:r>
            <a:endParaRPr/>
          </a:p>
        </p:txBody>
      </p:sp>
      <p:sp>
        <p:nvSpPr>
          <p:cNvPr id="122" name="Google Shape;122;p3"/>
          <p:cNvSpPr txBox="1"/>
          <p:nvPr>
            <p:ph idx="1" type="body"/>
          </p:nvPr>
        </p:nvSpPr>
        <p:spPr>
          <a:xfrm>
            <a:off x="1587" y="1828800"/>
            <a:ext cx="4614862" cy="4572000"/>
          </a:xfrm>
          <a:prstGeom prst="rect">
            <a:avLst/>
          </a:prstGeom>
          <a:solidFill>
            <a:srgbClr val="DDF3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combinational circuit consists of logic gates whose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at any time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determined directly from the present combination of inputs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without regard to previous inputs.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combinational circuit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performs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specific information-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processing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operation fully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specified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logically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set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Boolean functions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3"/>
          <p:cNvSpPr txBox="1"/>
          <p:nvPr>
            <p:ph idx="1" type="body"/>
          </p:nvPr>
        </p:nvSpPr>
        <p:spPr>
          <a:xfrm>
            <a:off x="4614862" y="1430337"/>
            <a:ext cx="4529137" cy="474662"/>
          </a:xfrm>
          <a:prstGeom prst="rect">
            <a:avLst/>
          </a:prstGeom>
          <a:solidFill>
            <a:srgbClr val="D6D6F5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Sequential</a:t>
            </a:r>
            <a:endParaRPr/>
          </a:p>
        </p:txBody>
      </p:sp>
      <p:sp>
        <p:nvSpPr>
          <p:cNvPr id="124" name="Google Shape;124;p3"/>
          <p:cNvSpPr txBox="1"/>
          <p:nvPr>
            <p:ph idx="2" type="body"/>
          </p:nvPr>
        </p:nvSpPr>
        <p:spPr>
          <a:xfrm>
            <a:off x="4614862" y="1828800"/>
            <a:ext cx="4529137" cy="4572000"/>
          </a:xfrm>
          <a:prstGeom prst="rect">
            <a:avLst/>
          </a:prstGeom>
          <a:solidFill>
            <a:srgbClr val="D6D6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Sequential circuits employ memory elements in addition to logic gates. </a:t>
            </a:r>
            <a:r>
              <a:rPr b="0"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Their outputs are a function of the inputs and the state of memory elements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state of memory elements, in turn, is a function of previous inputs. As a consequence, the </a:t>
            </a:r>
            <a:r>
              <a:rPr b="0"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outputs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a sequential circuit </a:t>
            </a:r>
            <a:r>
              <a:rPr b="0"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 not only on present inputs, but also on past inputs. 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/>
          <p:nvPr>
            <p:ph idx="1" type="body"/>
          </p:nvPr>
        </p:nvSpPr>
        <p:spPr>
          <a:xfrm>
            <a:off x="685800" y="762000"/>
            <a:ext cx="77724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combinational circuit consists of input variables, logic gates and output variables.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combinational circuit can be described by </a:t>
            </a:r>
            <a:r>
              <a:rPr b="0" i="0" lang="en-US" sz="3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Boolean functions, one for each output variable. Each output function is expressed in terms of the </a:t>
            </a:r>
            <a:r>
              <a:rPr b="0" i="0" lang="en-US" sz="3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input variables</a:t>
            </a:r>
            <a:r>
              <a:rPr b="0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b="0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</a:t>
            </a:r>
            <a:r>
              <a:rPr b="1" i="0" lang="en-US" sz="36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no feedback path </a:t>
            </a:r>
            <a:r>
              <a:rPr b="0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presence of memory element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0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/>
          <p:nvPr>
            <p:ph idx="1" type="body"/>
          </p:nvPr>
        </p:nvSpPr>
        <p:spPr>
          <a:xfrm>
            <a:off x="228600" y="0"/>
            <a:ext cx="7772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Procedure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design of combinational circuits starts from the verbal outline of the problem and ends in a logic circuit diagram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procedure involves the following steps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</p:txBody>
      </p:sp>
      <p:sp>
        <p:nvSpPr>
          <p:cNvPr id="135" name="Google Shape;135;p5"/>
          <p:cNvSpPr txBox="1"/>
          <p:nvPr/>
        </p:nvSpPr>
        <p:spPr>
          <a:xfrm>
            <a:off x="228600" y="6096000"/>
            <a:ext cx="8915400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Times New Roman"/>
              <a:buNone/>
            </a:pPr>
            <a:r>
              <a:rPr b="0" i="1" lang="en-US" sz="24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Hint: Aren’t these the steps used for solving car-garage alarm system?!!!!So we are familiar with combinational circuit design! ☺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3087" y="1901825"/>
            <a:ext cx="8272462" cy="418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 txBox="1"/>
          <p:nvPr>
            <p:ph type="title"/>
          </p:nvPr>
        </p:nvSpPr>
        <p:spPr>
          <a:xfrm>
            <a:off x="11430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b="1" i="0" lang="en-US" sz="4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Procedure: Half Adder</a:t>
            </a:r>
            <a:endParaRPr/>
          </a:p>
        </p:txBody>
      </p:sp>
      <p:sp>
        <p:nvSpPr>
          <p:cNvPr id="142" name="Google Shape;142;p6"/>
          <p:cNvSpPr txBox="1"/>
          <p:nvPr>
            <p:ph idx="1" type="body"/>
          </p:nvPr>
        </p:nvSpPr>
        <p:spPr>
          <a:xfrm>
            <a:off x="1143000" y="1295400"/>
            <a:ext cx="77724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combinational circuit that performs the addition of two bits is called a half-adder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State Problem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Example: Build a </a:t>
            </a:r>
            <a:r>
              <a:rPr b="0" i="0" lang="en-US" sz="22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Half Adder</a:t>
            </a: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add two bits</a:t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Determine and label the inputs &amp; outputs of circuit.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Example: Two inputs and two outputs labeled, as 			    follows:</a:t>
            </a:r>
            <a:endParaRPr/>
          </a:p>
        </p:txBody>
      </p:sp>
      <p:grpSp>
        <p:nvGrpSpPr>
          <p:cNvPr id="143" name="Google Shape;143;p6"/>
          <p:cNvGrpSpPr/>
          <p:nvPr/>
        </p:nvGrpSpPr>
        <p:grpSpPr>
          <a:xfrm>
            <a:off x="1828800" y="4038600"/>
            <a:ext cx="4038600" cy="1357312"/>
            <a:chOff x="1584" y="2736"/>
            <a:chExt cx="2544" cy="855"/>
          </a:xfrm>
        </p:grpSpPr>
        <p:sp>
          <p:nvSpPr>
            <p:cNvPr id="144" name="Google Shape;144;p6"/>
            <p:cNvSpPr txBox="1"/>
            <p:nvPr/>
          </p:nvSpPr>
          <p:spPr>
            <a:xfrm>
              <a:off x="2400" y="2736"/>
              <a:ext cx="912" cy="624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" name="Google Shape;145;p6"/>
            <p:cNvSpPr txBox="1"/>
            <p:nvPr/>
          </p:nvSpPr>
          <p:spPr>
            <a:xfrm>
              <a:off x="2496" y="2832"/>
              <a:ext cx="720" cy="4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Half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6" name="Google Shape;146;p6"/>
            <p:cNvCxnSpPr/>
            <p:nvPr/>
          </p:nvCxnSpPr>
          <p:spPr>
            <a:xfrm>
              <a:off x="1824" y="2928"/>
              <a:ext cx="576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47" name="Google Shape;147;p6"/>
            <p:cNvCxnSpPr/>
            <p:nvPr/>
          </p:nvCxnSpPr>
          <p:spPr>
            <a:xfrm>
              <a:off x="1824" y="3216"/>
              <a:ext cx="576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48" name="Google Shape;148;p6"/>
            <p:cNvCxnSpPr/>
            <p:nvPr/>
          </p:nvCxnSpPr>
          <p:spPr>
            <a:xfrm>
              <a:off x="3312" y="2928"/>
              <a:ext cx="576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49" name="Google Shape;149;p6"/>
            <p:cNvCxnSpPr/>
            <p:nvPr/>
          </p:nvCxnSpPr>
          <p:spPr>
            <a:xfrm>
              <a:off x="3312" y="3216"/>
              <a:ext cx="576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50" name="Google Shape;150;p6"/>
            <p:cNvSpPr txBox="1"/>
            <p:nvPr/>
          </p:nvSpPr>
          <p:spPr>
            <a:xfrm>
              <a:off x="1584" y="2832"/>
              <a:ext cx="240" cy="4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6"/>
            <p:cNvSpPr txBox="1"/>
            <p:nvPr/>
          </p:nvSpPr>
          <p:spPr>
            <a:xfrm>
              <a:off x="3888" y="2832"/>
              <a:ext cx="240" cy="4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6"/>
            <p:cNvSpPr txBox="1"/>
            <p:nvPr/>
          </p:nvSpPr>
          <p:spPr>
            <a:xfrm>
              <a:off x="2544" y="3360"/>
              <a:ext cx="57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(X + Y)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3" name="Google Shape;153;p6"/>
          <p:cNvSpPr txBox="1"/>
          <p:nvPr/>
        </p:nvSpPr>
        <p:spPr>
          <a:xfrm>
            <a:off x="1143000" y="54102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3) Draw truth table.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 txBox="1"/>
          <p:nvPr>
            <p:ph type="title"/>
          </p:nvPr>
        </p:nvSpPr>
        <p:spPr>
          <a:xfrm>
            <a:off x="11430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b="1" i="0" lang="en-US" sz="4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Procedure: Half Adder</a:t>
            </a:r>
            <a:endParaRPr/>
          </a:p>
        </p:txBody>
      </p:sp>
      <p:sp>
        <p:nvSpPr>
          <p:cNvPr id="159" name="Google Shape;159;p7"/>
          <p:cNvSpPr txBox="1"/>
          <p:nvPr/>
        </p:nvSpPr>
        <p:spPr>
          <a:xfrm>
            <a:off x="1447800" y="1447800"/>
            <a:ext cx="53340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4) Obtain simplified Boolean function.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Example:   C = </a:t>
            </a:r>
            <a:r>
              <a:rPr b="0" i="0" lang="en-US" sz="2200" u="none" cap="none" strike="noStrik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XY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      S = </a:t>
            </a:r>
            <a:r>
              <a:rPr b="0" i="0" lang="en-US" sz="2200" u="none" cap="none" strike="noStrik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X'Y + XY'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2200" u="none" cap="none" strike="noStrik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X⊕Y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0" name="Google Shape;160;p7"/>
          <p:cNvGraphicFramePr/>
          <p:nvPr/>
        </p:nvGraphicFramePr>
        <p:xfrm>
          <a:off x="7010400" y="1524000"/>
          <a:ext cx="1727200" cy="1528762"/>
        </p:xfrm>
        <a:graphic>
          <a:graphicData uri="http://schemas.openxmlformats.org/presentationml/2006/ole">
            <mc:AlternateContent>
              <mc:Choice Requires="v">
                <p:oleObj r:id="rId4" imgH="1528762" imgW="1727200" progId="Word.Document.8" spid="_x0000_s1">
                  <p:embed/>
                </p:oleObj>
              </mc:Choice>
              <mc:Fallback>
                <p:oleObj r:id="rId5" imgH="1528762" imgW="1727200" progId="Word.Document.8">
                  <p:embed/>
                  <p:pic>
                    <p:nvPicPr>
                      <p:cNvPr id="160" name="Google Shape;160;p7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010400" y="1524000"/>
                        <a:ext cx="1727200" cy="1528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" name="Google Shape;161;p7"/>
          <p:cNvSpPr txBox="1"/>
          <p:nvPr/>
        </p:nvSpPr>
        <p:spPr>
          <a:xfrm>
            <a:off x="5791200" y="4191000"/>
            <a:ext cx="175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Half Adder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 txBox="1"/>
          <p:nvPr/>
        </p:nvSpPr>
        <p:spPr>
          <a:xfrm>
            <a:off x="1447800" y="3048000"/>
            <a:ext cx="5334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5) Draw logic diagram.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Ways to draw half-adder</a:t>
            </a:r>
            <a:endParaRPr/>
          </a:p>
        </p:txBody>
      </p:sp>
      <p:sp>
        <p:nvSpPr>
          <p:cNvPr id="169" name="Google Shape;169;p8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commonly used</a:t>
            </a:r>
            <a:b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S=xy’+x’y</a:t>
            </a:r>
            <a:b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=x ⊕ y</a:t>
            </a:r>
            <a:b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C=xy</a:t>
            </a:r>
            <a:b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pic>
        <p:nvPicPr>
          <p:cNvPr id="170" name="Google Shape;17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0" y="3505200"/>
            <a:ext cx="3943350" cy="220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"/>
          <p:cNvSpPr txBox="1"/>
          <p:nvPr>
            <p:ph type="title"/>
          </p:nvPr>
        </p:nvSpPr>
        <p:spPr>
          <a:xfrm>
            <a:off x="11430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b="1" i="0" lang="en-US" sz="4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Procedure : Full Adder</a:t>
            </a:r>
            <a:endParaRPr/>
          </a:p>
        </p:txBody>
      </p:sp>
      <p:sp>
        <p:nvSpPr>
          <p:cNvPr id="176" name="Google Shape;176;p9"/>
          <p:cNvSpPr txBox="1"/>
          <p:nvPr>
            <p:ph idx="1" type="body"/>
          </p:nvPr>
        </p:nvSpPr>
        <p:spPr>
          <a:xfrm>
            <a:off x="1143000" y="1219200"/>
            <a:ext cx="77724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Half-adder adds up only two bits.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add two binary numbers, we need to add 3 bits (including the </a:t>
            </a:r>
            <a:r>
              <a:rPr b="0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carry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</p:txBody>
      </p:sp>
      <p:graphicFrame>
        <p:nvGraphicFramePr>
          <p:cNvPr id="177" name="Google Shape;177;p9"/>
          <p:cNvGraphicFramePr/>
          <p:nvPr/>
        </p:nvGraphicFramePr>
        <p:xfrm>
          <a:off x="3276600" y="2819400"/>
          <a:ext cx="2679700" cy="1265237"/>
        </p:xfrm>
        <a:graphic>
          <a:graphicData uri="http://schemas.openxmlformats.org/presentationml/2006/ole">
            <mc:AlternateContent>
              <mc:Choice Requires="v">
                <p:oleObj r:id="rId4" imgH="1265237" imgW="2679700" progId="Word.Document.8" spid="_x0000_s1">
                  <p:embed/>
                </p:oleObj>
              </mc:Choice>
              <mc:Fallback>
                <p:oleObj r:id="rId5" imgH="1265237" imgW="2679700" progId="Word.Document.8">
                  <p:embed/>
                  <p:pic>
                    <p:nvPicPr>
                      <p:cNvPr id="177" name="Google Shape;177;p9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276600" y="2819400"/>
                        <a:ext cx="2679700" cy="1265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8" name="Google Shape;178;p9"/>
          <p:cNvSpPr txBox="1"/>
          <p:nvPr/>
        </p:nvSpPr>
        <p:spPr>
          <a:xfrm>
            <a:off x="1143000" y="4038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Adder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(so called as it can be made from two half-adders).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9" name="Google Shape;179;p9"/>
          <p:cNvGrpSpPr/>
          <p:nvPr/>
        </p:nvGrpSpPr>
        <p:grpSpPr>
          <a:xfrm>
            <a:off x="4038600" y="4800600"/>
            <a:ext cx="4038600" cy="1357312"/>
            <a:chOff x="2208" y="3072"/>
            <a:chExt cx="2544" cy="855"/>
          </a:xfrm>
        </p:grpSpPr>
        <p:sp>
          <p:nvSpPr>
            <p:cNvPr id="180" name="Google Shape;180;p9"/>
            <p:cNvSpPr txBox="1"/>
            <p:nvPr/>
          </p:nvSpPr>
          <p:spPr>
            <a:xfrm>
              <a:off x="3024" y="3072"/>
              <a:ext cx="912" cy="624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1" name="Google Shape;181;p9"/>
            <p:cNvSpPr txBox="1"/>
            <p:nvPr/>
          </p:nvSpPr>
          <p:spPr>
            <a:xfrm>
              <a:off x="3120" y="3168"/>
              <a:ext cx="720" cy="4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Full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2" name="Google Shape;182;p9"/>
            <p:cNvCxnSpPr/>
            <p:nvPr/>
          </p:nvCxnSpPr>
          <p:spPr>
            <a:xfrm>
              <a:off x="2448" y="3216"/>
              <a:ext cx="576" cy="1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83" name="Google Shape;183;p9"/>
            <p:cNvCxnSpPr/>
            <p:nvPr/>
          </p:nvCxnSpPr>
          <p:spPr>
            <a:xfrm>
              <a:off x="2448" y="3408"/>
              <a:ext cx="576" cy="1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84" name="Google Shape;184;p9"/>
            <p:cNvCxnSpPr/>
            <p:nvPr/>
          </p:nvCxnSpPr>
          <p:spPr>
            <a:xfrm>
              <a:off x="3936" y="3264"/>
              <a:ext cx="576" cy="1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85" name="Google Shape;185;p9"/>
            <p:cNvCxnSpPr/>
            <p:nvPr/>
          </p:nvCxnSpPr>
          <p:spPr>
            <a:xfrm>
              <a:off x="3936" y="3552"/>
              <a:ext cx="576" cy="1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86" name="Google Shape;186;p9"/>
            <p:cNvSpPr txBox="1"/>
            <p:nvPr/>
          </p:nvSpPr>
          <p:spPr>
            <a:xfrm>
              <a:off x="2208" y="3072"/>
              <a:ext cx="240" cy="6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9"/>
            <p:cNvSpPr txBox="1"/>
            <p:nvPr/>
          </p:nvSpPr>
          <p:spPr>
            <a:xfrm>
              <a:off x="4512" y="3168"/>
              <a:ext cx="240" cy="4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9"/>
            <p:cNvSpPr txBox="1"/>
            <p:nvPr/>
          </p:nvSpPr>
          <p:spPr>
            <a:xfrm>
              <a:off x="3072" y="3696"/>
              <a:ext cx="86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(X + Y + Z)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9" name="Google Shape;189;p9"/>
            <p:cNvCxnSpPr/>
            <p:nvPr/>
          </p:nvCxnSpPr>
          <p:spPr>
            <a:xfrm>
              <a:off x="2448" y="3600"/>
              <a:ext cx="576" cy="1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"/>
          <p:cNvSpPr txBox="1"/>
          <p:nvPr>
            <p:ph type="title"/>
          </p:nvPr>
        </p:nvSpPr>
        <p:spPr>
          <a:xfrm>
            <a:off x="11430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b="1" i="0" lang="en-US" sz="4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Procedure : Full Adder</a:t>
            </a:r>
            <a:endParaRPr/>
          </a:p>
        </p:txBody>
      </p:sp>
      <p:sp>
        <p:nvSpPr>
          <p:cNvPr id="196" name="Google Shape;196;p10"/>
          <p:cNvSpPr txBox="1"/>
          <p:nvPr>
            <p:ph idx="1" type="body"/>
          </p:nvPr>
        </p:nvSpPr>
        <p:spPr>
          <a:xfrm>
            <a:off x="1143000" y="129540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Truth table:</a:t>
            </a:r>
            <a:endParaRPr/>
          </a:p>
        </p:txBody>
      </p:sp>
      <p:sp>
        <p:nvSpPr>
          <p:cNvPr id="197" name="Google Shape;197;p10"/>
          <p:cNvSpPr txBox="1"/>
          <p:nvPr/>
        </p:nvSpPr>
        <p:spPr>
          <a:xfrm>
            <a:off x="4495800" y="1905000"/>
            <a:ext cx="4495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 - carry in (to the current 		position)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- carry out (to the next position)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1828800"/>
            <a:ext cx="2832100" cy="3027362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0"/>
          <p:cNvSpPr txBox="1"/>
          <p:nvPr/>
        </p:nvSpPr>
        <p:spPr>
          <a:xfrm>
            <a:off x="1143000" y="5002212"/>
            <a:ext cx="47244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truth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C = X’YZ+XY’Z+XYZ’+XYZ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S = X'Y'Z + XYZ + X'YZ'+XY'Z'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f7f70b6f4e_0_0"/>
          <p:cNvSpPr txBox="1"/>
          <p:nvPr>
            <p:ph type="title"/>
          </p:nvPr>
        </p:nvSpPr>
        <p:spPr>
          <a:xfrm>
            <a:off x="11430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Gate-level (SSI) Design: Full Adder</a:t>
            </a:r>
            <a:endParaRPr/>
          </a:p>
        </p:txBody>
      </p:sp>
      <p:sp>
        <p:nvSpPr>
          <p:cNvPr id="205" name="Google Shape;205;g2f7f70b6f4e_0_0"/>
          <p:cNvSpPr txBox="1"/>
          <p:nvPr>
            <p:ph idx="1" type="body"/>
          </p:nvPr>
        </p:nvSpPr>
        <p:spPr>
          <a:xfrm>
            <a:off x="609600" y="1600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/>
              <a:t> # Full Adders (3 bits)</a:t>
            </a:r>
            <a:endParaRPr sz="2000"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/>
              <a:t>C = X’YZ + XY’Z + XYZ’ + XYZ</a:t>
            </a:r>
            <a:br>
              <a:rPr lang="en-US" sz="2000"/>
            </a:br>
            <a:r>
              <a:rPr lang="en-US" sz="2000"/>
              <a:t>= Z (X’Y + XY’) + XY (Z + Z’)</a:t>
            </a:r>
            <a:endParaRPr sz="2000"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/>
              <a:t>   = Z (X </a:t>
            </a:r>
            <a:r>
              <a:rPr lang="en-US" sz="1500">
                <a:solidFill>
                  <a:srgbClr val="040C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⊕ </a:t>
            </a:r>
            <a:r>
              <a:rPr lang="en-US" sz="2000"/>
              <a:t>Y) + XY</a:t>
            </a:r>
            <a:endParaRPr sz="2000"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sz="2000"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/>
              <a:t>S = X’Y’Z + X’YZ’ + XY’Z’ + XYZ</a:t>
            </a:r>
            <a:endParaRPr sz="2000"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/>
              <a:t>   = X’ (Y’Z + YZ’) + X (Y’Z’ + YZ)</a:t>
            </a:r>
            <a:endParaRPr sz="2000"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/>
              <a:t>   = X’ (Y</a:t>
            </a:r>
            <a:r>
              <a:rPr lang="en-US" sz="1500">
                <a:solidFill>
                  <a:srgbClr val="040C28"/>
                </a:solidFill>
                <a:highlight>
                  <a:srgbClr val="FFFFFF"/>
                </a:highlight>
              </a:rPr>
              <a:t>⊕</a:t>
            </a:r>
            <a:r>
              <a:rPr lang="en-US" sz="1500"/>
              <a:t> </a:t>
            </a:r>
            <a:r>
              <a:rPr lang="en-US" sz="2000"/>
              <a:t>Z) + X (Y</a:t>
            </a:r>
            <a:r>
              <a:rPr lang="en-US" sz="1500">
                <a:solidFill>
                  <a:srgbClr val="040C28"/>
                </a:solidFill>
                <a:highlight>
                  <a:srgbClr val="FFFFFF"/>
                </a:highlight>
              </a:rPr>
              <a:t>⊕</a:t>
            </a:r>
            <a:r>
              <a:rPr lang="en-US" sz="1500"/>
              <a:t> </a:t>
            </a:r>
            <a:r>
              <a:rPr lang="en-US" sz="2000"/>
              <a:t>Z)’ [(</a:t>
            </a:r>
            <a:r>
              <a:rPr lang="en-US" sz="2000">
                <a:solidFill>
                  <a:srgbClr val="006600"/>
                </a:solidFill>
              </a:rPr>
              <a:t>Y</a:t>
            </a:r>
            <a:r>
              <a:rPr lang="en-US" sz="1500">
                <a:solidFill>
                  <a:srgbClr val="006600"/>
                </a:solidFill>
                <a:highlight>
                  <a:srgbClr val="FFFFFF"/>
                </a:highlight>
              </a:rPr>
              <a:t>⊕</a:t>
            </a:r>
            <a:r>
              <a:rPr lang="en-US" sz="1500">
                <a:solidFill>
                  <a:srgbClr val="006600"/>
                </a:solidFill>
              </a:rPr>
              <a:t> </a:t>
            </a:r>
            <a:r>
              <a:rPr lang="en-US" sz="2000">
                <a:solidFill>
                  <a:srgbClr val="006600"/>
                </a:solidFill>
              </a:rPr>
              <a:t>Z</a:t>
            </a:r>
            <a:r>
              <a:rPr lang="en-US" sz="2000"/>
              <a:t>) = </a:t>
            </a:r>
            <a:r>
              <a:rPr lang="en-US" sz="2000">
                <a:solidFill>
                  <a:srgbClr val="006600"/>
                </a:solidFill>
              </a:rPr>
              <a:t>A</a:t>
            </a:r>
            <a:r>
              <a:rPr lang="en-US" sz="2000"/>
              <a:t>]</a:t>
            </a:r>
            <a:endParaRPr sz="2000"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/>
              <a:t>   = X’</a:t>
            </a:r>
            <a:r>
              <a:rPr lang="en-US" sz="2000">
                <a:solidFill>
                  <a:srgbClr val="006600"/>
                </a:solidFill>
              </a:rPr>
              <a:t>A</a:t>
            </a:r>
            <a:r>
              <a:rPr lang="en-US" sz="2000"/>
              <a:t> + X</a:t>
            </a:r>
            <a:r>
              <a:rPr lang="en-US" sz="2000">
                <a:solidFill>
                  <a:srgbClr val="006600"/>
                </a:solidFill>
              </a:rPr>
              <a:t>A</a:t>
            </a:r>
            <a:r>
              <a:rPr lang="en-US" sz="2000"/>
              <a:t>’</a:t>
            </a:r>
            <a:endParaRPr sz="2000"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/>
              <a:t>   = X </a:t>
            </a:r>
            <a:r>
              <a:rPr lang="en-US" sz="1500">
                <a:solidFill>
                  <a:srgbClr val="040C28"/>
                </a:solidFill>
                <a:highlight>
                  <a:srgbClr val="FFFFFF"/>
                </a:highlight>
              </a:rPr>
              <a:t>⊕ </a:t>
            </a:r>
            <a:r>
              <a:rPr lang="en-US" sz="2000">
                <a:solidFill>
                  <a:srgbClr val="006600"/>
                </a:solidFill>
              </a:rPr>
              <a:t>A</a:t>
            </a:r>
            <a:endParaRPr sz="2000">
              <a:solidFill>
                <a:srgbClr val="006600"/>
              </a:solidFill>
            </a:endParaRPr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/>
              <a:t>   = X </a:t>
            </a:r>
            <a:r>
              <a:rPr lang="en-US" sz="1500">
                <a:solidFill>
                  <a:srgbClr val="040C28"/>
                </a:solidFill>
                <a:highlight>
                  <a:srgbClr val="FFFFFF"/>
                </a:highlight>
              </a:rPr>
              <a:t>⊕ </a:t>
            </a:r>
            <a:r>
              <a:rPr lang="en-US" sz="2000">
                <a:solidFill>
                  <a:srgbClr val="006600"/>
                </a:solidFill>
              </a:rPr>
              <a:t>Y</a:t>
            </a:r>
            <a:r>
              <a:rPr lang="en-US" sz="1500">
                <a:solidFill>
                  <a:srgbClr val="006600"/>
                </a:solidFill>
                <a:highlight>
                  <a:srgbClr val="FFFFFF"/>
                </a:highlight>
              </a:rPr>
              <a:t>⊕</a:t>
            </a:r>
            <a:r>
              <a:rPr lang="en-US" sz="1500">
                <a:solidFill>
                  <a:srgbClr val="006600"/>
                </a:solidFill>
              </a:rPr>
              <a:t> </a:t>
            </a:r>
            <a:r>
              <a:rPr lang="en-US" sz="2000">
                <a:solidFill>
                  <a:srgbClr val="006600"/>
                </a:solidFill>
              </a:rPr>
              <a:t>Z</a:t>
            </a:r>
            <a:endParaRPr sz="2000">
              <a:solidFill>
                <a:srgbClr val="006600"/>
              </a:solidFill>
            </a:endParaRPr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sz="2000"/>
          </a:p>
        </p:txBody>
      </p:sp>
      <p:pic>
        <p:nvPicPr>
          <p:cNvPr id="206" name="Google Shape;206;g2f7f70b6f4e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0725" y="1867575"/>
            <a:ext cx="3750875" cy="4009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"/>
          <p:cNvSpPr txBox="1"/>
          <p:nvPr>
            <p:ph type="title"/>
          </p:nvPr>
        </p:nvSpPr>
        <p:spPr>
          <a:xfrm>
            <a:off x="11430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Gate-level (SSI) Design: Full Adder</a:t>
            </a:r>
            <a:endParaRPr/>
          </a:p>
        </p:txBody>
      </p:sp>
      <p:sp>
        <p:nvSpPr>
          <p:cNvPr id="212" name="Google Shape;212;p12"/>
          <p:cNvSpPr txBox="1"/>
          <p:nvPr>
            <p:ph idx="1" type="body"/>
          </p:nvPr>
        </p:nvSpPr>
        <p:spPr>
          <a:xfrm>
            <a:off x="1143000" y="1295400"/>
            <a:ext cx="7620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Circuit for above formulae: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 = XY + (X⊕Y)Z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= (X⊕Y)⊕Z</a:t>
            </a:r>
            <a:endParaRPr/>
          </a:p>
        </p:txBody>
      </p:sp>
      <p:sp>
        <p:nvSpPr>
          <p:cNvPr id="213" name="Google Shape;213;p12"/>
          <p:cNvSpPr txBox="1"/>
          <p:nvPr/>
        </p:nvSpPr>
        <p:spPr>
          <a:xfrm>
            <a:off x="1676400" y="5410200"/>
            <a:ext cx="6096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Full Adder made from two </a:t>
            </a:r>
            <a:r>
              <a:rPr b="0" i="0" lang="en-US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Half-Adders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(+ OR gate).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2"/>
          <p:cNvSpPr txBox="1"/>
          <p:nvPr/>
        </p:nvSpPr>
        <p:spPr>
          <a:xfrm>
            <a:off x="4210050" y="2895600"/>
            <a:ext cx="820737" cy="349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(X⊕Y)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5" name="Google Shape;215;p12"/>
          <p:cNvGrpSpPr/>
          <p:nvPr/>
        </p:nvGrpSpPr>
        <p:grpSpPr>
          <a:xfrm>
            <a:off x="2286000" y="2971800"/>
            <a:ext cx="5656262" cy="2363787"/>
            <a:chOff x="1440" y="1872"/>
            <a:chExt cx="3563" cy="1489"/>
          </a:xfrm>
        </p:grpSpPr>
        <p:sp>
          <p:nvSpPr>
            <p:cNvPr id="216" name="Google Shape;216;p12"/>
            <p:cNvSpPr/>
            <p:nvPr/>
          </p:nvSpPr>
          <p:spPr>
            <a:xfrm>
              <a:off x="2317" y="2545"/>
              <a:ext cx="426" cy="343"/>
            </a:xfrm>
            <a:prstGeom prst="flowChartDelay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17" name="Google Shape;217;p12"/>
            <p:cNvCxnSpPr/>
            <p:nvPr/>
          </p:nvCxnSpPr>
          <p:spPr>
            <a:xfrm>
              <a:off x="1632" y="2012"/>
              <a:ext cx="716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8" name="Google Shape;218;p12"/>
            <p:cNvCxnSpPr/>
            <p:nvPr/>
          </p:nvCxnSpPr>
          <p:spPr>
            <a:xfrm>
              <a:off x="1632" y="2169"/>
              <a:ext cx="716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9" name="Google Shape;219;p12"/>
            <p:cNvCxnSpPr/>
            <p:nvPr/>
          </p:nvCxnSpPr>
          <p:spPr>
            <a:xfrm flipH="1" rot="10800000">
              <a:off x="2725" y="2084"/>
              <a:ext cx="797" cy="3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0" name="Google Shape;220;p12"/>
            <p:cNvCxnSpPr/>
            <p:nvPr/>
          </p:nvCxnSpPr>
          <p:spPr>
            <a:xfrm>
              <a:off x="2160" y="2638"/>
              <a:ext cx="157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1" name="Google Shape;221;p12"/>
            <p:cNvCxnSpPr/>
            <p:nvPr/>
          </p:nvCxnSpPr>
          <p:spPr>
            <a:xfrm>
              <a:off x="2160" y="2016"/>
              <a:ext cx="0" cy="626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2" name="Google Shape;222;p12"/>
            <p:cNvCxnSpPr/>
            <p:nvPr/>
          </p:nvCxnSpPr>
          <p:spPr>
            <a:xfrm>
              <a:off x="2064" y="2169"/>
              <a:ext cx="0" cy="626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3" name="Google Shape;223;p12"/>
            <p:cNvCxnSpPr/>
            <p:nvPr/>
          </p:nvCxnSpPr>
          <p:spPr>
            <a:xfrm>
              <a:off x="2064" y="2795"/>
              <a:ext cx="253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4" name="Google Shape;224;p12"/>
            <p:cNvCxnSpPr/>
            <p:nvPr/>
          </p:nvCxnSpPr>
          <p:spPr>
            <a:xfrm>
              <a:off x="2736" y="2712"/>
              <a:ext cx="183" cy="5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25" name="Google Shape;225;p12"/>
            <p:cNvSpPr/>
            <p:nvPr/>
          </p:nvSpPr>
          <p:spPr>
            <a:xfrm>
              <a:off x="2047" y="2147"/>
              <a:ext cx="39" cy="51"/>
            </a:xfrm>
            <a:prstGeom prst="ellipse">
              <a:avLst/>
            </a:prstGeom>
            <a:solidFill>
              <a:srgbClr val="000000"/>
            </a:solidFill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6" name="Google Shape;226;p12"/>
            <p:cNvSpPr/>
            <p:nvPr/>
          </p:nvSpPr>
          <p:spPr>
            <a:xfrm>
              <a:off x="2141" y="1984"/>
              <a:ext cx="38" cy="51"/>
            </a:xfrm>
            <a:prstGeom prst="ellipse">
              <a:avLst/>
            </a:prstGeom>
            <a:solidFill>
              <a:srgbClr val="000000"/>
            </a:solidFill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27" name="Google Shape;227;p12"/>
            <p:cNvGrpSpPr/>
            <p:nvPr/>
          </p:nvGrpSpPr>
          <p:grpSpPr>
            <a:xfrm>
              <a:off x="2274" y="1915"/>
              <a:ext cx="456" cy="345"/>
              <a:chOff x="8928" y="3168"/>
              <a:chExt cx="1080" cy="792"/>
            </a:xfrm>
          </p:grpSpPr>
          <p:sp>
            <p:nvSpPr>
              <p:cNvPr id="228" name="Google Shape;228;p12"/>
              <p:cNvSpPr/>
              <p:nvPr/>
            </p:nvSpPr>
            <p:spPr>
              <a:xfrm>
                <a:off x="9000" y="3168"/>
                <a:ext cx="144" cy="792"/>
              </a:xfrm>
              <a:custGeom>
                <a:rect b="b" l="l" r="r" t="t"/>
                <a:pathLst>
                  <a:path extrusionOk="0" h="864" w="288">
                    <a:moveTo>
                      <a:pt x="0" y="0"/>
                    </a:moveTo>
                    <a:cubicBezTo>
                      <a:pt x="144" y="144"/>
                      <a:pt x="288" y="288"/>
                      <a:pt x="288" y="432"/>
                    </a:cubicBezTo>
                    <a:cubicBezTo>
                      <a:pt x="288" y="576"/>
                      <a:pt x="48" y="792"/>
                      <a:pt x="0" y="864"/>
                    </a:cubicBezTo>
                  </a:path>
                </a:pathLst>
              </a:custGeom>
              <a:noFill/>
              <a:ln cap="flat" cmpd="sng" w="158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229" name="Google Shape;229;p12"/>
              <p:cNvCxnSpPr/>
              <p:nvPr/>
            </p:nvCxnSpPr>
            <p:spPr>
              <a:xfrm>
                <a:off x="9000" y="3168"/>
                <a:ext cx="360" cy="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0" name="Google Shape;230;p12"/>
              <p:cNvCxnSpPr/>
              <p:nvPr/>
            </p:nvCxnSpPr>
            <p:spPr>
              <a:xfrm>
                <a:off x="9000" y="3960"/>
                <a:ext cx="360" cy="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31" name="Google Shape;231;p12"/>
              <p:cNvSpPr/>
              <p:nvPr/>
            </p:nvSpPr>
            <p:spPr>
              <a:xfrm>
                <a:off x="9360" y="3168"/>
                <a:ext cx="648" cy="432"/>
              </a:xfrm>
              <a:custGeom>
                <a:rect b="b" l="l" r="r" t="t"/>
                <a:pathLst>
                  <a:path extrusionOk="0" h="432" w="576">
                    <a:moveTo>
                      <a:pt x="0" y="0"/>
                    </a:moveTo>
                    <a:cubicBezTo>
                      <a:pt x="168" y="36"/>
                      <a:pt x="336" y="72"/>
                      <a:pt x="432" y="144"/>
                    </a:cubicBezTo>
                    <a:cubicBezTo>
                      <a:pt x="528" y="216"/>
                      <a:pt x="552" y="324"/>
                      <a:pt x="576" y="432"/>
                    </a:cubicBezTo>
                  </a:path>
                </a:pathLst>
              </a:custGeom>
              <a:noFill/>
              <a:ln cap="flat" cmpd="sng" w="158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2" name="Google Shape;232;p12"/>
              <p:cNvSpPr/>
              <p:nvPr/>
            </p:nvSpPr>
            <p:spPr>
              <a:xfrm flipH="1" rot="10800000">
                <a:off x="9360" y="3528"/>
                <a:ext cx="648" cy="432"/>
              </a:xfrm>
              <a:custGeom>
                <a:rect b="b" l="l" r="r" t="t"/>
                <a:pathLst>
                  <a:path extrusionOk="0" h="432" w="576">
                    <a:moveTo>
                      <a:pt x="0" y="0"/>
                    </a:moveTo>
                    <a:cubicBezTo>
                      <a:pt x="168" y="36"/>
                      <a:pt x="336" y="72"/>
                      <a:pt x="432" y="144"/>
                    </a:cubicBezTo>
                    <a:cubicBezTo>
                      <a:pt x="528" y="216"/>
                      <a:pt x="552" y="324"/>
                      <a:pt x="576" y="432"/>
                    </a:cubicBezTo>
                  </a:path>
                </a:pathLst>
              </a:custGeom>
              <a:noFill/>
              <a:ln cap="flat" cmpd="sng" w="158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3" name="Google Shape;233;p12"/>
              <p:cNvSpPr/>
              <p:nvPr/>
            </p:nvSpPr>
            <p:spPr>
              <a:xfrm>
                <a:off x="8928" y="3168"/>
                <a:ext cx="144" cy="792"/>
              </a:xfrm>
              <a:custGeom>
                <a:rect b="b" l="l" r="r" t="t"/>
                <a:pathLst>
                  <a:path extrusionOk="0" h="864" w="288">
                    <a:moveTo>
                      <a:pt x="0" y="0"/>
                    </a:moveTo>
                    <a:cubicBezTo>
                      <a:pt x="144" y="144"/>
                      <a:pt x="288" y="288"/>
                      <a:pt x="288" y="432"/>
                    </a:cubicBezTo>
                    <a:cubicBezTo>
                      <a:pt x="288" y="576"/>
                      <a:pt x="48" y="792"/>
                      <a:pt x="0" y="864"/>
                    </a:cubicBezTo>
                  </a:path>
                </a:pathLst>
              </a:custGeom>
              <a:noFill/>
              <a:ln cap="flat" cmpd="sng" w="158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234" name="Google Shape;234;p12"/>
            <p:cNvSpPr txBox="1"/>
            <p:nvPr/>
          </p:nvSpPr>
          <p:spPr>
            <a:xfrm>
              <a:off x="1440" y="1872"/>
              <a:ext cx="244" cy="3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2"/>
            <p:cNvSpPr txBox="1"/>
            <p:nvPr/>
          </p:nvSpPr>
          <p:spPr>
            <a:xfrm>
              <a:off x="4760" y="2044"/>
              <a:ext cx="243" cy="2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12"/>
            <p:cNvSpPr txBox="1"/>
            <p:nvPr/>
          </p:nvSpPr>
          <p:spPr>
            <a:xfrm>
              <a:off x="4760" y="2763"/>
              <a:ext cx="243" cy="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12"/>
            <p:cNvSpPr/>
            <p:nvPr/>
          </p:nvSpPr>
          <p:spPr>
            <a:xfrm>
              <a:off x="3487" y="2620"/>
              <a:ext cx="426" cy="344"/>
            </a:xfrm>
            <a:prstGeom prst="flowChartDelay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38" name="Google Shape;238;p12"/>
            <p:cNvCxnSpPr/>
            <p:nvPr/>
          </p:nvCxnSpPr>
          <p:spPr>
            <a:xfrm flipH="1" rot="10800000">
              <a:off x="3072" y="2229"/>
              <a:ext cx="445" cy="4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9" name="Google Shape;239;p12"/>
            <p:cNvCxnSpPr/>
            <p:nvPr/>
          </p:nvCxnSpPr>
          <p:spPr>
            <a:xfrm flipH="1" rot="10800000">
              <a:off x="3903" y="2159"/>
              <a:ext cx="863" cy="2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0" name="Google Shape;240;p12"/>
            <p:cNvCxnSpPr/>
            <p:nvPr/>
          </p:nvCxnSpPr>
          <p:spPr>
            <a:xfrm>
              <a:off x="3360" y="2701"/>
              <a:ext cx="121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1" name="Google Shape;241;p12"/>
            <p:cNvCxnSpPr/>
            <p:nvPr/>
          </p:nvCxnSpPr>
          <p:spPr>
            <a:xfrm>
              <a:off x="3360" y="2075"/>
              <a:ext cx="0" cy="626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2" name="Google Shape;242;p12"/>
            <p:cNvCxnSpPr/>
            <p:nvPr/>
          </p:nvCxnSpPr>
          <p:spPr>
            <a:xfrm>
              <a:off x="3072" y="2228"/>
              <a:ext cx="0" cy="1032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3" name="Google Shape;243;p12"/>
            <p:cNvCxnSpPr/>
            <p:nvPr/>
          </p:nvCxnSpPr>
          <p:spPr>
            <a:xfrm>
              <a:off x="2928" y="3120"/>
              <a:ext cx="1152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4" name="Google Shape;244;p12"/>
            <p:cNvCxnSpPr/>
            <p:nvPr/>
          </p:nvCxnSpPr>
          <p:spPr>
            <a:xfrm>
              <a:off x="3922" y="2784"/>
              <a:ext cx="302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45" name="Google Shape;245;p12"/>
            <p:cNvSpPr/>
            <p:nvPr/>
          </p:nvSpPr>
          <p:spPr>
            <a:xfrm>
              <a:off x="3244" y="2212"/>
              <a:ext cx="40" cy="51"/>
            </a:xfrm>
            <a:prstGeom prst="ellipse">
              <a:avLst/>
            </a:prstGeom>
            <a:solidFill>
              <a:srgbClr val="000000"/>
            </a:solidFill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6" name="Google Shape;246;p12"/>
            <p:cNvSpPr/>
            <p:nvPr/>
          </p:nvSpPr>
          <p:spPr>
            <a:xfrm>
              <a:off x="3340" y="2065"/>
              <a:ext cx="38" cy="51"/>
            </a:xfrm>
            <a:prstGeom prst="ellipse">
              <a:avLst/>
            </a:prstGeom>
            <a:solidFill>
              <a:srgbClr val="000000"/>
            </a:solidFill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47" name="Google Shape;247;p12"/>
            <p:cNvGrpSpPr/>
            <p:nvPr/>
          </p:nvGrpSpPr>
          <p:grpSpPr>
            <a:xfrm>
              <a:off x="3444" y="1991"/>
              <a:ext cx="457" cy="345"/>
              <a:chOff x="8928" y="3168"/>
              <a:chExt cx="1080" cy="792"/>
            </a:xfrm>
          </p:grpSpPr>
          <p:sp>
            <p:nvSpPr>
              <p:cNvPr id="248" name="Google Shape;248;p12"/>
              <p:cNvSpPr/>
              <p:nvPr/>
            </p:nvSpPr>
            <p:spPr>
              <a:xfrm>
                <a:off x="9000" y="3168"/>
                <a:ext cx="144" cy="792"/>
              </a:xfrm>
              <a:custGeom>
                <a:rect b="b" l="l" r="r" t="t"/>
                <a:pathLst>
                  <a:path extrusionOk="0" h="864" w="288">
                    <a:moveTo>
                      <a:pt x="0" y="0"/>
                    </a:moveTo>
                    <a:cubicBezTo>
                      <a:pt x="144" y="144"/>
                      <a:pt x="288" y="288"/>
                      <a:pt x="288" y="432"/>
                    </a:cubicBezTo>
                    <a:cubicBezTo>
                      <a:pt x="288" y="576"/>
                      <a:pt x="48" y="792"/>
                      <a:pt x="0" y="864"/>
                    </a:cubicBezTo>
                  </a:path>
                </a:pathLst>
              </a:custGeom>
              <a:noFill/>
              <a:ln cap="flat" cmpd="sng" w="158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249" name="Google Shape;249;p12"/>
              <p:cNvCxnSpPr/>
              <p:nvPr/>
            </p:nvCxnSpPr>
            <p:spPr>
              <a:xfrm>
                <a:off x="9000" y="3168"/>
                <a:ext cx="360" cy="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0" name="Google Shape;250;p12"/>
              <p:cNvCxnSpPr/>
              <p:nvPr/>
            </p:nvCxnSpPr>
            <p:spPr>
              <a:xfrm>
                <a:off x="9000" y="3960"/>
                <a:ext cx="360" cy="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51" name="Google Shape;251;p12"/>
              <p:cNvSpPr/>
              <p:nvPr/>
            </p:nvSpPr>
            <p:spPr>
              <a:xfrm>
                <a:off x="9360" y="3168"/>
                <a:ext cx="648" cy="432"/>
              </a:xfrm>
              <a:custGeom>
                <a:rect b="b" l="l" r="r" t="t"/>
                <a:pathLst>
                  <a:path extrusionOk="0" h="432" w="576">
                    <a:moveTo>
                      <a:pt x="0" y="0"/>
                    </a:moveTo>
                    <a:cubicBezTo>
                      <a:pt x="168" y="36"/>
                      <a:pt x="336" y="72"/>
                      <a:pt x="432" y="144"/>
                    </a:cubicBezTo>
                    <a:cubicBezTo>
                      <a:pt x="528" y="216"/>
                      <a:pt x="552" y="324"/>
                      <a:pt x="576" y="432"/>
                    </a:cubicBezTo>
                  </a:path>
                </a:pathLst>
              </a:custGeom>
              <a:noFill/>
              <a:ln cap="flat" cmpd="sng" w="158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2" name="Google Shape;252;p12"/>
              <p:cNvSpPr/>
              <p:nvPr/>
            </p:nvSpPr>
            <p:spPr>
              <a:xfrm flipH="1" rot="10800000">
                <a:off x="9360" y="3528"/>
                <a:ext cx="648" cy="432"/>
              </a:xfrm>
              <a:custGeom>
                <a:rect b="b" l="l" r="r" t="t"/>
                <a:pathLst>
                  <a:path extrusionOk="0" h="432" w="576">
                    <a:moveTo>
                      <a:pt x="0" y="0"/>
                    </a:moveTo>
                    <a:cubicBezTo>
                      <a:pt x="168" y="36"/>
                      <a:pt x="336" y="72"/>
                      <a:pt x="432" y="144"/>
                    </a:cubicBezTo>
                    <a:cubicBezTo>
                      <a:pt x="528" y="216"/>
                      <a:pt x="552" y="324"/>
                      <a:pt x="576" y="432"/>
                    </a:cubicBezTo>
                  </a:path>
                </a:pathLst>
              </a:custGeom>
              <a:noFill/>
              <a:ln cap="flat" cmpd="sng" w="158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3" name="Google Shape;253;p12"/>
              <p:cNvSpPr/>
              <p:nvPr/>
            </p:nvSpPr>
            <p:spPr>
              <a:xfrm>
                <a:off x="8928" y="3168"/>
                <a:ext cx="144" cy="792"/>
              </a:xfrm>
              <a:custGeom>
                <a:rect b="b" l="l" r="r" t="t"/>
                <a:pathLst>
                  <a:path extrusionOk="0" h="864" w="288">
                    <a:moveTo>
                      <a:pt x="0" y="0"/>
                    </a:moveTo>
                    <a:cubicBezTo>
                      <a:pt x="144" y="144"/>
                      <a:pt x="288" y="288"/>
                      <a:pt x="288" y="432"/>
                    </a:cubicBezTo>
                    <a:cubicBezTo>
                      <a:pt x="288" y="576"/>
                      <a:pt x="48" y="792"/>
                      <a:pt x="0" y="864"/>
                    </a:cubicBezTo>
                  </a:path>
                </a:pathLst>
              </a:custGeom>
              <a:noFill/>
              <a:ln cap="flat" cmpd="sng" w="158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54" name="Google Shape;254;p12"/>
            <p:cNvCxnSpPr/>
            <p:nvPr/>
          </p:nvCxnSpPr>
          <p:spPr>
            <a:xfrm>
              <a:off x="1632" y="3264"/>
              <a:ext cx="144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5" name="Google Shape;255;p12"/>
            <p:cNvCxnSpPr/>
            <p:nvPr/>
          </p:nvCxnSpPr>
          <p:spPr>
            <a:xfrm>
              <a:off x="3264" y="2832"/>
              <a:ext cx="226" cy="2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6" name="Google Shape;256;p12"/>
            <p:cNvCxnSpPr/>
            <p:nvPr/>
          </p:nvCxnSpPr>
          <p:spPr>
            <a:xfrm rot="10800000">
              <a:off x="2909" y="2709"/>
              <a:ext cx="0" cy="411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7" name="Google Shape;257;p12"/>
            <p:cNvCxnSpPr/>
            <p:nvPr/>
          </p:nvCxnSpPr>
          <p:spPr>
            <a:xfrm>
              <a:off x="4059" y="2951"/>
              <a:ext cx="177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58" name="Google Shape;258;p12"/>
            <p:cNvGrpSpPr/>
            <p:nvPr/>
          </p:nvGrpSpPr>
          <p:grpSpPr>
            <a:xfrm>
              <a:off x="4181" y="2701"/>
              <a:ext cx="427" cy="343"/>
              <a:chOff x="6768" y="11808"/>
              <a:chExt cx="1008" cy="792"/>
            </a:xfrm>
          </p:grpSpPr>
          <p:sp>
            <p:nvSpPr>
              <p:cNvPr id="259" name="Google Shape;259;p12"/>
              <p:cNvSpPr/>
              <p:nvPr/>
            </p:nvSpPr>
            <p:spPr>
              <a:xfrm>
                <a:off x="6768" y="11808"/>
                <a:ext cx="144" cy="792"/>
              </a:xfrm>
              <a:custGeom>
                <a:rect b="b" l="l" r="r" t="t"/>
                <a:pathLst>
                  <a:path extrusionOk="0" h="864" w="288">
                    <a:moveTo>
                      <a:pt x="0" y="0"/>
                    </a:moveTo>
                    <a:cubicBezTo>
                      <a:pt x="144" y="144"/>
                      <a:pt x="288" y="288"/>
                      <a:pt x="288" y="432"/>
                    </a:cubicBezTo>
                    <a:cubicBezTo>
                      <a:pt x="288" y="576"/>
                      <a:pt x="48" y="792"/>
                      <a:pt x="0" y="864"/>
                    </a:cubicBezTo>
                  </a:path>
                </a:pathLst>
              </a:custGeom>
              <a:noFill/>
              <a:ln cap="flat" cmpd="sng" w="158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260" name="Google Shape;260;p12"/>
              <p:cNvCxnSpPr/>
              <p:nvPr/>
            </p:nvCxnSpPr>
            <p:spPr>
              <a:xfrm>
                <a:off x="6768" y="11808"/>
                <a:ext cx="360" cy="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61" name="Google Shape;261;p12"/>
              <p:cNvCxnSpPr/>
              <p:nvPr/>
            </p:nvCxnSpPr>
            <p:spPr>
              <a:xfrm>
                <a:off x="6768" y="12600"/>
                <a:ext cx="360" cy="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62" name="Google Shape;262;p12"/>
              <p:cNvSpPr/>
              <p:nvPr/>
            </p:nvSpPr>
            <p:spPr>
              <a:xfrm>
                <a:off x="7128" y="11808"/>
                <a:ext cx="648" cy="432"/>
              </a:xfrm>
              <a:custGeom>
                <a:rect b="b" l="l" r="r" t="t"/>
                <a:pathLst>
                  <a:path extrusionOk="0" h="432" w="576">
                    <a:moveTo>
                      <a:pt x="0" y="0"/>
                    </a:moveTo>
                    <a:cubicBezTo>
                      <a:pt x="168" y="36"/>
                      <a:pt x="336" y="72"/>
                      <a:pt x="432" y="144"/>
                    </a:cubicBezTo>
                    <a:cubicBezTo>
                      <a:pt x="528" y="216"/>
                      <a:pt x="552" y="324"/>
                      <a:pt x="576" y="432"/>
                    </a:cubicBezTo>
                  </a:path>
                </a:pathLst>
              </a:custGeom>
              <a:noFill/>
              <a:ln cap="flat" cmpd="sng" w="158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3" name="Google Shape;263;p12"/>
              <p:cNvSpPr/>
              <p:nvPr/>
            </p:nvSpPr>
            <p:spPr>
              <a:xfrm flipH="1" rot="10800000">
                <a:off x="7128" y="12168"/>
                <a:ext cx="648" cy="432"/>
              </a:xfrm>
              <a:custGeom>
                <a:rect b="b" l="l" r="r" t="t"/>
                <a:pathLst>
                  <a:path extrusionOk="0" h="432" w="576">
                    <a:moveTo>
                      <a:pt x="0" y="0"/>
                    </a:moveTo>
                    <a:cubicBezTo>
                      <a:pt x="168" y="36"/>
                      <a:pt x="336" y="72"/>
                      <a:pt x="432" y="144"/>
                    </a:cubicBezTo>
                    <a:cubicBezTo>
                      <a:pt x="528" y="216"/>
                      <a:pt x="552" y="324"/>
                      <a:pt x="576" y="432"/>
                    </a:cubicBezTo>
                  </a:path>
                </a:pathLst>
              </a:custGeom>
              <a:noFill/>
              <a:ln cap="flat" cmpd="sng" w="158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64" name="Google Shape;264;p12"/>
            <p:cNvCxnSpPr/>
            <p:nvPr/>
          </p:nvCxnSpPr>
          <p:spPr>
            <a:xfrm rot="10800000">
              <a:off x="4059" y="2951"/>
              <a:ext cx="0" cy="169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5" name="Google Shape;265;p12"/>
            <p:cNvCxnSpPr/>
            <p:nvPr/>
          </p:nvCxnSpPr>
          <p:spPr>
            <a:xfrm>
              <a:off x="4594" y="2873"/>
              <a:ext cx="175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66" name="Google Shape;266;p12"/>
            <p:cNvSpPr txBox="1"/>
            <p:nvPr/>
          </p:nvSpPr>
          <p:spPr>
            <a:xfrm>
              <a:off x="1449" y="3141"/>
              <a:ext cx="243" cy="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12"/>
            <p:cNvSpPr txBox="1"/>
            <p:nvPr/>
          </p:nvSpPr>
          <p:spPr>
            <a:xfrm>
              <a:off x="2683" y="2482"/>
              <a:ext cx="395" cy="2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(XY)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8" name="Google Shape;268;p12"/>
            <p:cNvCxnSpPr/>
            <p:nvPr/>
          </p:nvCxnSpPr>
          <p:spPr>
            <a:xfrm>
              <a:off x="3264" y="2208"/>
              <a:ext cx="0" cy="626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69" name="Google Shape;269;p12"/>
          <p:cNvGrpSpPr/>
          <p:nvPr/>
        </p:nvGrpSpPr>
        <p:grpSpPr>
          <a:xfrm>
            <a:off x="3124200" y="2895600"/>
            <a:ext cx="3200400" cy="2514600"/>
            <a:chOff x="3124200" y="2895600"/>
            <a:chExt cx="3200400" cy="2514600"/>
          </a:xfrm>
        </p:grpSpPr>
        <p:grpSp>
          <p:nvGrpSpPr>
            <p:cNvPr id="270" name="Google Shape;270;p12"/>
            <p:cNvGrpSpPr/>
            <p:nvPr/>
          </p:nvGrpSpPr>
          <p:grpSpPr>
            <a:xfrm>
              <a:off x="3124200" y="2895600"/>
              <a:ext cx="3200400" cy="1905000"/>
              <a:chOff x="1968" y="1824"/>
              <a:chExt cx="2016" cy="1200"/>
            </a:xfrm>
          </p:grpSpPr>
          <p:sp>
            <p:nvSpPr>
              <p:cNvPr id="271" name="Google Shape;271;p12"/>
              <p:cNvSpPr txBox="1"/>
              <p:nvPr/>
            </p:nvSpPr>
            <p:spPr>
              <a:xfrm>
                <a:off x="1968" y="1824"/>
                <a:ext cx="816" cy="1200"/>
              </a:xfrm>
              <a:prstGeom prst="rect">
                <a:avLst/>
              </a:prstGeom>
              <a:noFill/>
              <a:ln cap="flat" cmpd="sng" w="19050">
                <a:solidFill>
                  <a:srgbClr val="0066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2" name="Google Shape;272;p12"/>
              <p:cNvSpPr txBox="1"/>
              <p:nvPr/>
            </p:nvSpPr>
            <p:spPr>
              <a:xfrm>
                <a:off x="3168" y="1824"/>
                <a:ext cx="816" cy="1200"/>
              </a:xfrm>
              <a:prstGeom prst="rect">
                <a:avLst/>
              </a:prstGeom>
              <a:noFill/>
              <a:ln cap="flat" cmpd="sng" w="19050">
                <a:solidFill>
                  <a:srgbClr val="0066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73" name="Google Shape;273;p12"/>
            <p:cNvCxnSpPr/>
            <p:nvPr/>
          </p:nvCxnSpPr>
          <p:spPr>
            <a:xfrm rot="10800000">
              <a:off x="3771900" y="4800600"/>
              <a:ext cx="1257300" cy="6096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74" name="Google Shape;274;p12"/>
            <p:cNvCxnSpPr/>
            <p:nvPr/>
          </p:nvCxnSpPr>
          <p:spPr>
            <a:xfrm flipH="1" rot="10800000">
              <a:off x="5611813" y="4705350"/>
              <a:ext cx="261937" cy="70485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3"/>
          <p:cNvSpPr txBox="1"/>
          <p:nvPr>
            <p:ph type="title"/>
          </p:nvPr>
        </p:nvSpPr>
        <p:spPr>
          <a:xfrm>
            <a:off x="685800" y="-17115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Methods</a:t>
            </a: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280" name="Google Shape;280;p13"/>
          <p:cNvSpPr txBox="1"/>
          <p:nvPr>
            <p:ph idx="1" type="body"/>
          </p:nvPr>
        </p:nvSpPr>
        <p:spPr>
          <a:xfrm>
            <a:off x="488852" y="954953"/>
            <a:ext cx="8655148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combinational circuit design methods: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Gate-level method (with logic gates)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Block-level design method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methods make use of logic gates and useful functional blocks.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are available as Integrated Circuit (IC) chips.</a:t>
            </a:r>
            <a:endParaRPr/>
          </a:p>
        </p:txBody>
      </p:sp>
      <p:sp>
        <p:nvSpPr>
          <p:cNvPr id="281" name="Google Shape;281;p13"/>
          <p:cNvSpPr txBox="1"/>
          <p:nvPr/>
        </p:nvSpPr>
        <p:spPr>
          <a:xfrm>
            <a:off x="559190" y="3429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is it better to use IC than classical gate method?</a:t>
            </a:r>
            <a:endParaRPr/>
          </a:p>
        </p:txBody>
      </p:sp>
      <p:sp>
        <p:nvSpPr>
          <p:cNvPr id="282" name="Google Shape;282;p13"/>
          <p:cNvSpPr/>
          <p:nvPr/>
        </p:nvSpPr>
        <p:spPr>
          <a:xfrm>
            <a:off x="685800" y="4878812"/>
            <a:ext cx="7923628" cy="1708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IC consists of gates all packed up together internally, which keeps the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gates safe inside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well as makes it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economical by reducing external interconnection wires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number of input increase, making the truth table and k-map gets cumbersome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"/>
          <p:cNvSpPr txBox="1"/>
          <p:nvPr>
            <p:ph type="title"/>
          </p:nvPr>
        </p:nvSpPr>
        <p:spPr>
          <a:xfrm>
            <a:off x="11430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Methods</a:t>
            </a:r>
            <a:endParaRPr/>
          </a:p>
        </p:txBody>
      </p:sp>
      <p:sp>
        <p:nvSpPr>
          <p:cNvPr id="288" name="Google Shape;288;p15"/>
          <p:cNvSpPr txBox="1"/>
          <p:nvPr>
            <p:ph idx="1" type="body"/>
          </p:nvPr>
        </p:nvSpPr>
        <p:spPr>
          <a:xfrm>
            <a:off x="1143000" y="12192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of IC chips (based on packing density) 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Small-scale integration (SSI): up to 12 gates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Medium-scale integration (MSI): 12-99 gates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Large-scale integration (LSI): 100-9999 gates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Very large-scale integration (VLSI): 10,000-99,999 gates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Ultra large-scale integration (ULSI): &gt; 100,000 gates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2880"/>
              <a:buFont typeface="Noto Sans Symbols"/>
              <a:buChar char="▪"/>
            </a:pPr>
            <a:r>
              <a:rPr b="1" i="1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 objectives of circuit design: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(i) reduce cost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 number of gates (for SSI circuits)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 IC packages (for complex circuits)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(ii) increase speed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(iii) design simplicity (reuse blocks where possible)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6"/>
          <p:cNvSpPr txBox="1"/>
          <p:nvPr>
            <p:ph type="title"/>
          </p:nvPr>
        </p:nvSpPr>
        <p:spPr>
          <a:xfrm>
            <a:off x="12192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Block-Level Design Method</a:t>
            </a:r>
            <a:endParaRPr/>
          </a:p>
        </p:txBody>
      </p:sp>
      <p:sp>
        <p:nvSpPr>
          <p:cNvPr id="294" name="Google Shape;294;p16"/>
          <p:cNvSpPr txBox="1"/>
          <p:nvPr>
            <p:ph idx="1" type="body"/>
          </p:nvPr>
        </p:nvSpPr>
        <p:spPr>
          <a:xfrm>
            <a:off x="1143000" y="1371600"/>
            <a:ext cx="76962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40"/>
              <a:buFont typeface="Noto Sans Symbols"/>
              <a:buChar char="▪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complex circuits can be built using block-level method.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840"/>
              <a:buFont typeface="Noto Sans Symbols"/>
              <a:buChar char="▪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general, block-level design method (as opposed to gate-level design) relies on algorithms or formulae of the circuit, which are obtained by </a:t>
            </a:r>
            <a:r>
              <a:rPr b="0" i="0" lang="en-US" sz="3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decomposing the main problem to sub-problems 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recursively (until small enough to be directly solved by blocks of circuits).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8"/>
          <p:cNvSpPr txBox="1"/>
          <p:nvPr>
            <p:ph type="title"/>
          </p:nvPr>
        </p:nvSpPr>
        <p:spPr>
          <a:xfrm>
            <a:off x="12192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4-bit Parallel Adder</a:t>
            </a:r>
            <a:endParaRPr/>
          </a:p>
        </p:txBody>
      </p:sp>
      <p:sp>
        <p:nvSpPr>
          <p:cNvPr id="300" name="Google Shape;300;p18"/>
          <p:cNvSpPr txBox="1"/>
          <p:nvPr>
            <p:ph idx="1" type="body"/>
          </p:nvPr>
        </p:nvSpPr>
        <p:spPr>
          <a:xfrm>
            <a:off x="1143000" y="13716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 a circuit to add two 4-bit numbers together and a carry-in, to produce a 5-bit result:</a:t>
            </a:r>
            <a:endParaRPr/>
          </a:p>
        </p:txBody>
      </p:sp>
      <p:grpSp>
        <p:nvGrpSpPr>
          <p:cNvPr id="301" name="Google Shape;301;p18"/>
          <p:cNvGrpSpPr/>
          <p:nvPr/>
        </p:nvGrpSpPr>
        <p:grpSpPr>
          <a:xfrm>
            <a:off x="1600200" y="2286000"/>
            <a:ext cx="5410200" cy="2576512"/>
            <a:chOff x="1392" y="1872"/>
            <a:chExt cx="3408" cy="1623"/>
          </a:xfrm>
        </p:grpSpPr>
        <p:sp>
          <p:nvSpPr>
            <p:cNvPr id="302" name="Google Shape;302;p18"/>
            <p:cNvSpPr txBox="1"/>
            <p:nvPr/>
          </p:nvSpPr>
          <p:spPr>
            <a:xfrm>
              <a:off x="2160" y="2400"/>
              <a:ext cx="2016" cy="624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3" name="Google Shape;303;p18"/>
            <p:cNvSpPr txBox="1"/>
            <p:nvPr/>
          </p:nvSpPr>
          <p:spPr>
            <a:xfrm>
              <a:off x="2496" y="2496"/>
              <a:ext cx="1344" cy="4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4-bit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Parallel Adder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18"/>
            <p:cNvSpPr txBox="1"/>
            <p:nvPr/>
          </p:nvSpPr>
          <p:spPr>
            <a:xfrm>
              <a:off x="1392" y="2592"/>
              <a:ext cx="52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r>
                <a:rPr b="1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5" name="Google Shape;305;p18"/>
            <p:cNvCxnSpPr/>
            <p:nvPr/>
          </p:nvCxnSpPr>
          <p:spPr>
            <a:xfrm rot="10800000">
              <a:off x="1872" y="2736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06" name="Google Shape;306;p18"/>
            <p:cNvCxnSpPr/>
            <p:nvPr/>
          </p:nvCxnSpPr>
          <p:spPr>
            <a:xfrm rot="5400000">
              <a:off x="2592" y="2256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07" name="Google Shape;307;p18"/>
            <p:cNvCxnSpPr/>
            <p:nvPr/>
          </p:nvCxnSpPr>
          <p:spPr>
            <a:xfrm flipH="1">
              <a:off x="4176" y="2736"/>
              <a:ext cx="288" cy="1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08" name="Google Shape;308;p18"/>
            <p:cNvCxnSpPr/>
            <p:nvPr/>
          </p:nvCxnSpPr>
          <p:spPr>
            <a:xfrm rot="5400000">
              <a:off x="2784" y="2256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09" name="Google Shape;309;p18"/>
            <p:cNvCxnSpPr/>
            <p:nvPr/>
          </p:nvCxnSpPr>
          <p:spPr>
            <a:xfrm rot="5400000">
              <a:off x="3264" y="2256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10" name="Google Shape;310;p18"/>
            <p:cNvCxnSpPr/>
            <p:nvPr/>
          </p:nvCxnSpPr>
          <p:spPr>
            <a:xfrm rot="5400000">
              <a:off x="3456" y="2256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11" name="Google Shape;311;p18"/>
            <p:cNvSpPr txBox="1"/>
            <p:nvPr/>
          </p:nvSpPr>
          <p:spPr>
            <a:xfrm>
              <a:off x="4416" y="2640"/>
              <a:ext cx="38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r>
                <a:rPr b="1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18"/>
            <p:cNvSpPr txBox="1"/>
            <p:nvPr/>
          </p:nvSpPr>
          <p:spPr>
            <a:xfrm>
              <a:off x="2544" y="1872"/>
              <a:ext cx="3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1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18"/>
            <p:cNvSpPr txBox="1"/>
            <p:nvPr/>
          </p:nvSpPr>
          <p:spPr>
            <a:xfrm>
              <a:off x="2736" y="1872"/>
              <a:ext cx="3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1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18"/>
            <p:cNvSpPr txBox="1"/>
            <p:nvPr/>
          </p:nvSpPr>
          <p:spPr>
            <a:xfrm>
              <a:off x="3216" y="1872"/>
              <a:ext cx="3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1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18"/>
            <p:cNvSpPr txBox="1"/>
            <p:nvPr/>
          </p:nvSpPr>
          <p:spPr>
            <a:xfrm>
              <a:off x="3456" y="1872"/>
              <a:ext cx="28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1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18"/>
            <p:cNvSpPr txBox="1"/>
            <p:nvPr/>
          </p:nvSpPr>
          <p:spPr>
            <a:xfrm>
              <a:off x="2736" y="3264"/>
              <a:ext cx="28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1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18"/>
            <p:cNvSpPr txBox="1"/>
            <p:nvPr/>
          </p:nvSpPr>
          <p:spPr>
            <a:xfrm>
              <a:off x="2928" y="3264"/>
              <a:ext cx="28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1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18"/>
            <p:cNvSpPr txBox="1"/>
            <p:nvPr/>
          </p:nvSpPr>
          <p:spPr>
            <a:xfrm>
              <a:off x="3140" y="3264"/>
              <a:ext cx="28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1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18"/>
            <p:cNvSpPr txBox="1"/>
            <p:nvPr/>
          </p:nvSpPr>
          <p:spPr>
            <a:xfrm>
              <a:off x="3312" y="3264"/>
              <a:ext cx="3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1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0" name="Google Shape;320;p18"/>
            <p:cNvCxnSpPr/>
            <p:nvPr/>
          </p:nvCxnSpPr>
          <p:spPr>
            <a:xfrm rot="5400000">
              <a:off x="2736" y="3168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21" name="Google Shape;321;p18"/>
            <p:cNvCxnSpPr/>
            <p:nvPr/>
          </p:nvCxnSpPr>
          <p:spPr>
            <a:xfrm rot="5400000">
              <a:off x="2928" y="3168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22" name="Google Shape;322;p18"/>
            <p:cNvCxnSpPr/>
            <p:nvPr/>
          </p:nvCxnSpPr>
          <p:spPr>
            <a:xfrm rot="5400000">
              <a:off x="3120" y="3168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23" name="Google Shape;323;p18"/>
            <p:cNvCxnSpPr/>
            <p:nvPr/>
          </p:nvCxnSpPr>
          <p:spPr>
            <a:xfrm rot="5400000">
              <a:off x="3312" y="3168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24" name="Google Shape;324;p18"/>
            <p:cNvCxnSpPr/>
            <p:nvPr/>
          </p:nvCxnSpPr>
          <p:spPr>
            <a:xfrm rot="5400000">
              <a:off x="3648" y="2256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25" name="Google Shape;325;p18"/>
            <p:cNvCxnSpPr/>
            <p:nvPr/>
          </p:nvCxnSpPr>
          <p:spPr>
            <a:xfrm rot="5400000">
              <a:off x="3840" y="2256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26" name="Google Shape;326;p18"/>
            <p:cNvSpPr txBox="1"/>
            <p:nvPr/>
          </p:nvSpPr>
          <p:spPr>
            <a:xfrm>
              <a:off x="3648" y="1872"/>
              <a:ext cx="3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1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18"/>
            <p:cNvSpPr txBox="1"/>
            <p:nvPr/>
          </p:nvSpPr>
          <p:spPr>
            <a:xfrm>
              <a:off x="3840" y="1872"/>
              <a:ext cx="3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1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8" name="Google Shape;328;p18"/>
            <p:cNvCxnSpPr/>
            <p:nvPr/>
          </p:nvCxnSpPr>
          <p:spPr>
            <a:xfrm rot="5400000">
              <a:off x="2208" y="2256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29" name="Google Shape;329;p18"/>
            <p:cNvCxnSpPr/>
            <p:nvPr/>
          </p:nvCxnSpPr>
          <p:spPr>
            <a:xfrm rot="5400000">
              <a:off x="2400" y="2256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30" name="Google Shape;330;p18"/>
            <p:cNvSpPr txBox="1"/>
            <p:nvPr/>
          </p:nvSpPr>
          <p:spPr>
            <a:xfrm>
              <a:off x="2160" y="1872"/>
              <a:ext cx="3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1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18"/>
            <p:cNvSpPr txBox="1"/>
            <p:nvPr/>
          </p:nvSpPr>
          <p:spPr>
            <a:xfrm>
              <a:off x="2352" y="1872"/>
              <a:ext cx="3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1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2" name="Google Shape;332;p18"/>
          <p:cNvSpPr txBox="1"/>
          <p:nvPr/>
        </p:nvSpPr>
        <p:spPr>
          <a:xfrm>
            <a:off x="6324600" y="4191000"/>
            <a:ext cx="25146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Black-box view of 4-bit parallel adder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8"/>
          <p:cNvSpPr txBox="1"/>
          <p:nvPr/>
        </p:nvSpPr>
        <p:spPr>
          <a:xfrm>
            <a:off x="1143000" y="5029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5-bit result is sufficient because the largest result is: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(1111)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+(1111)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+(1)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(11111)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9"/>
          <p:cNvSpPr txBox="1"/>
          <p:nvPr>
            <p:ph type="title"/>
          </p:nvPr>
        </p:nvSpPr>
        <p:spPr>
          <a:xfrm>
            <a:off x="12192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4-bit Parallel Adder</a:t>
            </a:r>
            <a:endParaRPr/>
          </a:p>
        </p:txBody>
      </p:sp>
      <p:sp>
        <p:nvSpPr>
          <p:cNvPr id="339" name="Google Shape;339;p19"/>
          <p:cNvSpPr txBox="1"/>
          <p:nvPr>
            <p:ph idx="1" type="body"/>
          </p:nvPr>
        </p:nvSpPr>
        <p:spPr>
          <a:xfrm>
            <a:off x="1143000" y="1371600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SSI design technique should not be used.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Truth table for 9 inputs very big, i.e. 2</a:t>
            </a:r>
            <a:r>
              <a:rPr b="0" baseline="30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=512 entries:</a:t>
            </a:r>
            <a:endParaRPr/>
          </a:p>
        </p:txBody>
      </p:sp>
      <p:graphicFrame>
        <p:nvGraphicFramePr>
          <p:cNvPr id="340" name="Google Shape;340;p19"/>
          <p:cNvGraphicFramePr/>
          <p:nvPr/>
        </p:nvGraphicFramePr>
        <p:xfrm>
          <a:off x="2135187" y="2595562"/>
          <a:ext cx="5108575" cy="2344737"/>
        </p:xfrm>
        <a:graphic>
          <a:graphicData uri="http://schemas.openxmlformats.org/presentationml/2006/ole">
            <mc:AlternateContent>
              <mc:Choice Requires="v">
                <p:oleObj r:id="rId4" imgH="2344737" imgW="5108575" progId="Word.Document.8" spid="_x0000_s1">
                  <p:embed/>
                </p:oleObj>
              </mc:Choice>
              <mc:Fallback>
                <p:oleObj r:id="rId5" imgH="2344737" imgW="5108575" progId="Word.Document.8">
                  <p:embed/>
                  <p:pic>
                    <p:nvPicPr>
                      <p:cNvPr id="340" name="Google Shape;340;p19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135187" y="2595562"/>
                        <a:ext cx="5108575" cy="2344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1" name="Google Shape;341;p19"/>
          <p:cNvSpPr txBox="1"/>
          <p:nvPr/>
        </p:nvSpPr>
        <p:spPr>
          <a:xfrm>
            <a:off x="1143000" y="49530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Simplification very complicated as no. of input is 9 so 512(=2^9) possible combination will be there in truth table!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0"/>
          <p:cNvSpPr txBox="1"/>
          <p:nvPr>
            <p:ph type="title"/>
          </p:nvPr>
        </p:nvSpPr>
        <p:spPr>
          <a:xfrm>
            <a:off x="12192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4-bit Parallel Adder</a:t>
            </a:r>
            <a:endParaRPr/>
          </a:p>
        </p:txBody>
      </p:sp>
      <p:sp>
        <p:nvSpPr>
          <p:cNvPr id="347" name="Google Shape;347;p20"/>
          <p:cNvSpPr txBox="1"/>
          <p:nvPr>
            <p:ph idx="1" type="body"/>
          </p:nvPr>
        </p:nvSpPr>
        <p:spPr>
          <a:xfrm>
            <a:off x="1219200" y="1371600"/>
            <a:ext cx="7772400" cy="28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Alternative design possible.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Addition formula for each pair of bits (with carry in),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C</a:t>
            </a:r>
            <a:r>
              <a:rPr b="0" baseline="-25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i+1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baseline="-25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X</a:t>
            </a:r>
            <a:r>
              <a:rPr b="0" baseline="-25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Y</a:t>
            </a:r>
            <a:r>
              <a:rPr b="0" baseline="-25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C</a:t>
            </a:r>
            <a:r>
              <a:rPr b="0" baseline="-25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has the same function as a full adder.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C</a:t>
            </a:r>
            <a:r>
              <a:rPr b="0" baseline="-25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i+1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= X</a:t>
            </a:r>
            <a:r>
              <a:rPr b="0" baseline="-25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</a:t>
            </a:r>
            <a:r>
              <a:rPr b="0" baseline="-25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(X</a:t>
            </a:r>
            <a:r>
              <a:rPr b="0" baseline="-25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⊕ Y</a:t>
            </a:r>
            <a:r>
              <a:rPr b="0" baseline="-25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) C</a:t>
            </a:r>
            <a:r>
              <a:rPr b="0" baseline="-25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S</a:t>
            </a:r>
            <a:r>
              <a:rPr b="0" baseline="-25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= X</a:t>
            </a:r>
            <a:r>
              <a:rPr b="0" baseline="-25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⊕ Y</a:t>
            </a:r>
            <a:r>
              <a:rPr b="0" baseline="-25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⊕ C</a:t>
            </a:r>
            <a:r>
              <a:rPr b="0" baseline="-25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grpSp>
        <p:nvGrpSpPr>
          <p:cNvPr id="348" name="Google Shape;348;p20"/>
          <p:cNvGrpSpPr/>
          <p:nvPr/>
        </p:nvGrpSpPr>
        <p:grpSpPr>
          <a:xfrm>
            <a:off x="58737" y="2286000"/>
            <a:ext cx="2913062" cy="533400"/>
            <a:chOff x="59140" y="2286000"/>
            <a:chExt cx="2912660" cy="533400"/>
          </a:xfrm>
        </p:grpSpPr>
        <p:cxnSp>
          <p:nvCxnSpPr>
            <p:cNvPr id="349" name="Google Shape;349;p20"/>
            <p:cNvCxnSpPr/>
            <p:nvPr/>
          </p:nvCxnSpPr>
          <p:spPr>
            <a:xfrm>
              <a:off x="1448010" y="2514600"/>
              <a:ext cx="152379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50" name="Google Shape;350;p20"/>
            <p:cNvSpPr/>
            <p:nvPr/>
          </p:nvSpPr>
          <p:spPr>
            <a:xfrm>
              <a:off x="59140" y="2286000"/>
              <a:ext cx="1523790" cy="5334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12700">
              <a:solidFill>
                <a:srgbClr val="00956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output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1" name="Google Shape;351;p20"/>
          <p:cNvGrpSpPr/>
          <p:nvPr/>
        </p:nvGrpSpPr>
        <p:grpSpPr>
          <a:xfrm>
            <a:off x="5715000" y="2286000"/>
            <a:ext cx="2667000" cy="533400"/>
            <a:chOff x="5715000" y="2286000"/>
            <a:chExt cx="2667000" cy="533400"/>
          </a:xfrm>
        </p:grpSpPr>
        <p:cxnSp>
          <p:nvCxnSpPr>
            <p:cNvPr id="352" name="Google Shape;352;p20"/>
            <p:cNvCxnSpPr/>
            <p:nvPr/>
          </p:nvCxnSpPr>
          <p:spPr>
            <a:xfrm rot="10800000">
              <a:off x="5715000" y="2476500"/>
              <a:ext cx="1066800" cy="381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53" name="Google Shape;353;p20"/>
            <p:cNvSpPr/>
            <p:nvPr/>
          </p:nvSpPr>
          <p:spPr>
            <a:xfrm>
              <a:off x="6781800" y="2286000"/>
              <a:ext cx="1600200" cy="5334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12700">
              <a:solidFill>
                <a:srgbClr val="00956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input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4" name="Google Shape;354;p20"/>
          <p:cNvSpPr/>
          <p:nvPr/>
        </p:nvSpPr>
        <p:spPr>
          <a:xfrm>
            <a:off x="5334000" y="4457700"/>
            <a:ext cx="3505200" cy="1371600"/>
          </a:xfrm>
          <a:prstGeom prst="wedgeRectCallout">
            <a:avLst>
              <a:gd fmla="val 4364" name="adj1"/>
              <a:gd fmla="val -7509" name="adj2"/>
            </a:avLst>
          </a:prstGeom>
          <a:solidFill>
            <a:schemeClr val="accent1"/>
          </a:solidFill>
          <a:ln cap="flat" cmpd="sng" w="12700">
            <a:solidFill>
              <a:srgbClr val="00956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66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NB: Similar to FA equation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66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= XY + (X⊕Y)Z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66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= (X⊕Y)⊕Z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1"/>
          <p:cNvSpPr txBox="1"/>
          <p:nvPr>
            <p:ph type="title"/>
          </p:nvPr>
        </p:nvSpPr>
        <p:spPr>
          <a:xfrm>
            <a:off x="12192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4-bit Parallel Adder</a:t>
            </a:r>
            <a:endParaRPr/>
          </a:p>
        </p:txBody>
      </p:sp>
      <p:sp>
        <p:nvSpPr>
          <p:cNvPr id="360" name="Google Shape;360;p21"/>
          <p:cNvSpPr txBox="1"/>
          <p:nvPr>
            <p:ph idx="1" type="body"/>
          </p:nvPr>
        </p:nvSpPr>
        <p:spPr>
          <a:xfrm>
            <a:off x="1143000" y="13716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Cascading 4 full adders via their carries, we get:</a:t>
            </a:r>
            <a:endParaRPr/>
          </a:p>
        </p:txBody>
      </p:sp>
      <p:grpSp>
        <p:nvGrpSpPr>
          <p:cNvPr id="361" name="Google Shape;361;p21"/>
          <p:cNvGrpSpPr/>
          <p:nvPr/>
        </p:nvGrpSpPr>
        <p:grpSpPr>
          <a:xfrm>
            <a:off x="1981200" y="2057400"/>
            <a:ext cx="6553200" cy="2881312"/>
            <a:chOff x="1248" y="1488"/>
            <a:chExt cx="4128" cy="1815"/>
          </a:xfrm>
        </p:grpSpPr>
        <p:sp>
          <p:nvSpPr>
            <p:cNvPr id="362" name="Google Shape;362;p21"/>
            <p:cNvSpPr txBox="1"/>
            <p:nvPr/>
          </p:nvSpPr>
          <p:spPr>
            <a:xfrm>
              <a:off x="5088" y="2256"/>
              <a:ext cx="28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r>
                <a:rPr b="1" baseline="-25000" i="0" lang="en-US" sz="1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63" name="Google Shape;363;p21"/>
            <p:cNvCxnSpPr/>
            <p:nvPr/>
          </p:nvCxnSpPr>
          <p:spPr>
            <a:xfrm rot="10800000">
              <a:off x="1488" y="2400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64" name="Google Shape;364;p21"/>
            <p:cNvCxnSpPr/>
            <p:nvPr/>
          </p:nvCxnSpPr>
          <p:spPr>
            <a:xfrm rot="5400000">
              <a:off x="4097" y="1950"/>
              <a:ext cx="445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65" name="Google Shape;365;p21"/>
            <p:cNvSpPr txBox="1"/>
            <p:nvPr/>
          </p:nvSpPr>
          <p:spPr>
            <a:xfrm>
              <a:off x="4128" y="1488"/>
              <a:ext cx="549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1" baseline="-25000" i="0" lang="en-US" sz="1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1  </a:t>
              </a:r>
              <a:r>
                <a:rPr b="1" i="0" lang="en-US" sz="1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1" baseline="-25000" i="0" lang="en-US" sz="1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21"/>
            <p:cNvSpPr txBox="1"/>
            <p:nvPr/>
          </p:nvSpPr>
          <p:spPr>
            <a:xfrm>
              <a:off x="4464" y="3072"/>
              <a:ext cx="3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66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66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1" baseline="-25000" i="0" lang="en-US" sz="1800" u="none" cap="none" strike="noStrike">
                  <a:solidFill>
                    <a:srgbClr val="0066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21"/>
            <p:cNvSpPr txBox="1"/>
            <p:nvPr/>
          </p:nvSpPr>
          <p:spPr>
            <a:xfrm>
              <a:off x="4224" y="2160"/>
              <a:ext cx="480" cy="432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8" name="Google Shape;368;p21"/>
            <p:cNvSpPr txBox="1"/>
            <p:nvPr/>
          </p:nvSpPr>
          <p:spPr>
            <a:xfrm>
              <a:off x="4287" y="2266"/>
              <a:ext cx="38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21"/>
            <p:cNvSpPr txBox="1"/>
            <p:nvPr/>
          </p:nvSpPr>
          <p:spPr>
            <a:xfrm>
              <a:off x="3888" y="1728"/>
              <a:ext cx="28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r>
                <a:rPr b="1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0" name="Google Shape;370;p21"/>
            <p:cNvCxnSpPr/>
            <p:nvPr/>
          </p:nvCxnSpPr>
          <p:spPr>
            <a:xfrm rot="5400000">
              <a:off x="4368" y="2832"/>
              <a:ext cx="480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71" name="Google Shape;371;p21"/>
            <p:cNvCxnSpPr/>
            <p:nvPr/>
          </p:nvCxnSpPr>
          <p:spPr>
            <a:xfrm rot="5400000">
              <a:off x="4241" y="1950"/>
              <a:ext cx="445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72" name="Google Shape;372;p21"/>
            <p:cNvCxnSpPr/>
            <p:nvPr/>
          </p:nvCxnSpPr>
          <p:spPr>
            <a:xfrm rot="5400000">
              <a:off x="4505" y="2070"/>
              <a:ext cx="205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73" name="Google Shape;373;p21"/>
            <p:cNvCxnSpPr/>
            <p:nvPr/>
          </p:nvCxnSpPr>
          <p:spPr>
            <a:xfrm>
              <a:off x="4608" y="1968"/>
              <a:ext cx="240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4" name="Google Shape;374;p21"/>
            <p:cNvCxnSpPr/>
            <p:nvPr/>
          </p:nvCxnSpPr>
          <p:spPr>
            <a:xfrm>
              <a:off x="4848" y="1968"/>
              <a:ext cx="0" cy="384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5" name="Google Shape;375;p21"/>
            <p:cNvCxnSpPr/>
            <p:nvPr/>
          </p:nvCxnSpPr>
          <p:spPr>
            <a:xfrm>
              <a:off x="4848" y="2352"/>
              <a:ext cx="240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6" name="Google Shape;376;p21"/>
            <p:cNvCxnSpPr/>
            <p:nvPr/>
          </p:nvCxnSpPr>
          <p:spPr>
            <a:xfrm rot="5400000">
              <a:off x="3329" y="1950"/>
              <a:ext cx="445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77" name="Google Shape;377;p21"/>
            <p:cNvSpPr txBox="1"/>
            <p:nvPr/>
          </p:nvSpPr>
          <p:spPr>
            <a:xfrm>
              <a:off x="1248" y="2304"/>
              <a:ext cx="28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66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66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r>
                <a:rPr b="1" baseline="-25000" i="0" lang="en-US" sz="1800" u="none" cap="none" strike="noStrike">
                  <a:solidFill>
                    <a:srgbClr val="0066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21"/>
            <p:cNvSpPr txBox="1"/>
            <p:nvPr/>
          </p:nvSpPr>
          <p:spPr>
            <a:xfrm>
              <a:off x="3360" y="1488"/>
              <a:ext cx="549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1" baseline="-25000" i="0" lang="en-US" sz="1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2  </a:t>
              </a:r>
              <a:r>
                <a:rPr b="1" i="0" lang="en-US" sz="1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1" baseline="-25000" i="0" lang="en-US" sz="1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21"/>
            <p:cNvSpPr txBox="1"/>
            <p:nvPr/>
          </p:nvSpPr>
          <p:spPr>
            <a:xfrm>
              <a:off x="3696" y="3072"/>
              <a:ext cx="3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66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66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1" baseline="-25000" i="0" lang="en-US" sz="1800" u="none" cap="none" strike="noStrike">
                  <a:solidFill>
                    <a:srgbClr val="0066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21"/>
            <p:cNvSpPr txBox="1"/>
            <p:nvPr/>
          </p:nvSpPr>
          <p:spPr>
            <a:xfrm>
              <a:off x="3456" y="2160"/>
              <a:ext cx="480" cy="432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1" name="Google Shape;381;p21"/>
            <p:cNvSpPr txBox="1"/>
            <p:nvPr/>
          </p:nvSpPr>
          <p:spPr>
            <a:xfrm>
              <a:off x="3519" y="2266"/>
              <a:ext cx="38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2" name="Google Shape;382;p21"/>
            <p:cNvCxnSpPr/>
            <p:nvPr/>
          </p:nvCxnSpPr>
          <p:spPr>
            <a:xfrm rot="5400000">
              <a:off x="3600" y="2832"/>
              <a:ext cx="480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83" name="Google Shape;383;p21"/>
            <p:cNvCxnSpPr/>
            <p:nvPr/>
          </p:nvCxnSpPr>
          <p:spPr>
            <a:xfrm rot="5400000">
              <a:off x="3473" y="1950"/>
              <a:ext cx="445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84" name="Google Shape;384;p21"/>
            <p:cNvCxnSpPr/>
            <p:nvPr/>
          </p:nvCxnSpPr>
          <p:spPr>
            <a:xfrm rot="5400000">
              <a:off x="3737" y="2070"/>
              <a:ext cx="205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85" name="Google Shape;385;p21"/>
            <p:cNvCxnSpPr/>
            <p:nvPr/>
          </p:nvCxnSpPr>
          <p:spPr>
            <a:xfrm>
              <a:off x="3840" y="1968"/>
              <a:ext cx="240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6" name="Google Shape;386;p21"/>
            <p:cNvCxnSpPr/>
            <p:nvPr/>
          </p:nvCxnSpPr>
          <p:spPr>
            <a:xfrm>
              <a:off x="4080" y="1968"/>
              <a:ext cx="0" cy="816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7" name="Google Shape;387;p21"/>
            <p:cNvCxnSpPr/>
            <p:nvPr/>
          </p:nvCxnSpPr>
          <p:spPr>
            <a:xfrm>
              <a:off x="4080" y="2784"/>
              <a:ext cx="240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8" name="Google Shape;388;p21"/>
            <p:cNvCxnSpPr/>
            <p:nvPr/>
          </p:nvCxnSpPr>
          <p:spPr>
            <a:xfrm>
              <a:off x="4320" y="2592"/>
              <a:ext cx="0" cy="192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89" name="Google Shape;389;p21"/>
            <p:cNvSpPr txBox="1"/>
            <p:nvPr/>
          </p:nvSpPr>
          <p:spPr>
            <a:xfrm>
              <a:off x="3120" y="1728"/>
              <a:ext cx="28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r>
                <a:rPr b="1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0" name="Google Shape;390;p21"/>
            <p:cNvCxnSpPr/>
            <p:nvPr/>
          </p:nvCxnSpPr>
          <p:spPr>
            <a:xfrm rot="5400000">
              <a:off x="2561" y="1950"/>
              <a:ext cx="445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91" name="Google Shape;391;p21"/>
            <p:cNvSpPr txBox="1"/>
            <p:nvPr/>
          </p:nvSpPr>
          <p:spPr>
            <a:xfrm>
              <a:off x="2592" y="1488"/>
              <a:ext cx="549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1" baseline="-25000" i="0" lang="en-US" sz="1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3  </a:t>
              </a:r>
              <a:r>
                <a:rPr b="1" i="0" lang="en-US" sz="1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1" baseline="-25000" i="0" lang="en-US" sz="1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21"/>
            <p:cNvSpPr txBox="1"/>
            <p:nvPr/>
          </p:nvSpPr>
          <p:spPr>
            <a:xfrm>
              <a:off x="2928" y="3072"/>
              <a:ext cx="3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66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66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1" baseline="-25000" i="0" lang="en-US" sz="1800" u="none" cap="none" strike="noStrike">
                  <a:solidFill>
                    <a:srgbClr val="0066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21"/>
            <p:cNvSpPr txBox="1"/>
            <p:nvPr/>
          </p:nvSpPr>
          <p:spPr>
            <a:xfrm>
              <a:off x="2688" y="2160"/>
              <a:ext cx="480" cy="432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4" name="Google Shape;394;p21"/>
            <p:cNvSpPr txBox="1"/>
            <p:nvPr/>
          </p:nvSpPr>
          <p:spPr>
            <a:xfrm>
              <a:off x="2751" y="2266"/>
              <a:ext cx="38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5" name="Google Shape;395;p21"/>
            <p:cNvCxnSpPr/>
            <p:nvPr/>
          </p:nvCxnSpPr>
          <p:spPr>
            <a:xfrm rot="5400000">
              <a:off x="2832" y="2832"/>
              <a:ext cx="480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96" name="Google Shape;396;p21"/>
            <p:cNvCxnSpPr/>
            <p:nvPr/>
          </p:nvCxnSpPr>
          <p:spPr>
            <a:xfrm rot="5400000">
              <a:off x="2705" y="1950"/>
              <a:ext cx="445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97" name="Google Shape;397;p21"/>
            <p:cNvCxnSpPr/>
            <p:nvPr/>
          </p:nvCxnSpPr>
          <p:spPr>
            <a:xfrm rot="5400000">
              <a:off x="2969" y="2070"/>
              <a:ext cx="205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98" name="Google Shape;398;p21"/>
            <p:cNvCxnSpPr/>
            <p:nvPr/>
          </p:nvCxnSpPr>
          <p:spPr>
            <a:xfrm>
              <a:off x="3072" y="1968"/>
              <a:ext cx="240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9" name="Google Shape;399;p21"/>
            <p:cNvCxnSpPr/>
            <p:nvPr/>
          </p:nvCxnSpPr>
          <p:spPr>
            <a:xfrm>
              <a:off x="3312" y="1968"/>
              <a:ext cx="0" cy="816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0" name="Google Shape;400;p21"/>
            <p:cNvCxnSpPr/>
            <p:nvPr/>
          </p:nvCxnSpPr>
          <p:spPr>
            <a:xfrm>
              <a:off x="3312" y="2784"/>
              <a:ext cx="240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1" name="Google Shape;401;p21"/>
            <p:cNvCxnSpPr/>
            <p:nvPr/>
          </p:nvCxnSpPr>
          <p:spPr>
            <a:xfrm>
              <a:off x="3552" y="2592"/>
              <a:ext cx="0" cy="192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02" name="Google Shape;402;p21"/>
            <p:cNvSpPr txBox="1"/>
            <p:nvPr/>
          </p:nvSpPr>
          <p:spPr>
            <a:xfrm>
              <a:off x="2352" y="1728"/>
              <a:ext cx="28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r>
                <a:rPr b="1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3" name="Google Shape;403;p21"/>
            <p:cNvCxnSpPr/>
            <p:nvPr/>
          </p:nvCxnSpPr>
          <p:spPr>
            <a:xfrm rot="5400000">
              <a:off x="1793" y="1950"/>
              <a:ext cx="445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404" name="Google Shape;404;p21"/>
            <p:cNvSpPr txBox="1"/>
            <p:nvPr/>
          </p:nvSpPr>
          <p:spPr>
            <a:xfrm>
              <a:off x="1824" y="1488"/>
              <a:ext cx="549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1" baseline="-25000" i="0" lang="en-US" sz="1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4  </a:t>
              </a:r>
              <a:r>
                <a:rPr b="1" i="0" lang="en-US" sz="1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1" baseline="-25000" i="0" lang="en-US" sz="1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21"/>
            <p:cNvSpPr txBox="1"/>
            <p:nvPr/>
          </p:nvSpPr>
          <p:spPr>
            <a:xfrm>
              <a:off x="2160" y="3072"/>
              <a:ext cx="3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66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66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1" baseline="-25000" i="0" lang="en-US" sz="1800" u="none" cap="none" strike="noStrike">
                  <a:solidFill>
                    <a:srgbClr val="0066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21"/>
            <p:cNvSpPr txBox="1"/>
            <p:nvPr/>
          </p:nvSpPr>
          <p:spPr>
            <a:xfrm>
              <a:off x="1920" y="2160"/>
              <a:ext cx="480" cy="432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7" name="Google Shape;407;p21"/>
            <p:cNvSpPr txBox="1"/>
            <p:nvPr/>
          </p:nvSpPr>
          <p:spPr>
            <a:xfrm>
              <a:off x="1983" y="2266"/>
              <a:ext cx="38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8" name="Google Shape;408;p21"/>
            <p:cNvCxnSpPr/>
            <p:nvPr/>
          </p:nvCxnSpPr>
          <p:spPr>
            <a:xfrm rot="5400000">
              <a:off x="2064" y="2832"/>
              <a:ext cx="480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409" name="Google Shape;409;p21"/>
            <p:cNvCxnSpPr/>
            <p:nvPr/>
          </p:nvCxnSpPr>
          <p:spPr>
            <a:xfrm rot="5400000">
              <a:off x="1937" y="1950"/>
              <a:ext cx="445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410" name="Google Shape;410;p21"/>
            <p:cNvCxnSpPr/>
            <p:nvPr/>
          </p:nvCxnSpPr>
          <p:spPr>
            <a:xfrm rot="5400000">
              <a:off x="2201" y="2070"/>
              <a:ext cx="205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411" name="Google Shape;411;p21"/>
            <p:cNvCxnSpPr/>
            <p:nvPr/>
          </p:nvCxnSpPr>
          <p:spPr>
            <a:xfrm>
              <a:off x="2304" y="1968"/>
              <a:ext cx="240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2" name="Google Shape;412;p21"/>
            <p:cNvCxnSpPr/>
            <p:nvPr/>
          </p:nvCxnSpPr>
          <p:spPr>
            <a:xfrm>
              <a:off x="2544" y="1968"/>
              <a:ext cx="0" cy="816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3" name="Google Shape;413;p21"/>
            <p:cNvCxnSpPr/>
            <p:nvPr/>
          </p:nvCxnSpPr>
          <p:spPr>
            <a:xfrm>
              <a:off x="2544" y="2784"/>
              <a:ext cx="240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4" name="Google Shape;414;p21"/>
            <p:cNvCxnSpPr/>
            <p:nvPr/>
          </p:nvCxnSpPr>
          <p:spPr>
            <a:xfrm>
              <a:off x="2784" y="2592"/>
              <a:ext cx="0" cy="192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5" name="Google Shape;415;p21"/>
            <p:cNvCxnSpPr/>
            <p:nvPr/>
          </p:nvCxnSpPr>
          <p:spPr>
            <a:xfrm>
              <a:off x="1776" y="2784"/>
              <a:ext cx="240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6" name="Google Shape;416;p21"/>
            <p:cNvCxnSpPr/>
            <p:nvPr/>
          </p:nvCxnSpPr>
          <p:spPr>
            <a:xfrm>
              <a:off x="2016" y="2592"/>
              <a:ext cx="0" cy="192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7" name="Google Shape;417;p21"/>
            <p:cNvCxnSpPr/>
            <p:nvPr/>
          </p:nvCxnSpPr>
          <p:spPr>
            <a:xfrm>
              <a:off x="1776" y="2400"/>
              <a:ext cx="0" cy="384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18" name="Google Shape;418;p21"/>
            <p:cNvSpPr txBox="1"/>
            <p:nvPr/>
          </p:nvSpPr>
          <p:spPr>
            <a:xfrm>
              <a:off x="1680" y="1776"/>
              <a:ext cx="3312" cy="1152"/>
            </a:xfrm>
            <a:prstGeom prst="rect">
              <a:avLst/>
            </a:prstGeom>
            <a:noFill/>
            <a:ln cap="flat" cmpd="sng" w="15875">
              <a:solidFill>
                <a:srgbClr val="99336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419" name="Google Shape;419;p21"/>
          <p:cNvSpPr txBox="1"/>
          <p:nvPr/>
        </p:nvSpPr>
        <p:spPr>
          <a:xfrm>
            <a:off x="1981200" y="5257800"/>
            <a:ext cx="228600" cy="228600"/>
          </a:xfrm>
          <a:prstGeom prst="rect">
            <a:avLst/>
          </a:prstGeom>
          <a:solidFill>
            <a:srgbClr val="0066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0" name="Google Shape;420;p21"/>
          <p:cNvSpPr txBox="1"/>
          <p:nvPr/>
        </p:nvSpPr>
        <p:spPr>
          <a:xfrm>
            <a:off x="2209800" y="5181600"/>
            <a:ext cx="9144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1"/>
          <p:cNvSpPr txBox="1"/>
          <p:nvPr/>
        </p:nvSpPr>
        <p:spPr>
          <a:xfrm>
            <a:off x="1981200" y="4953000"/>
            <a:ext cx="228600" cy="228600"/>
          </a:xfrm>
          <a:prstGeom prst="rect">
            <a:avLst/>
          </a:prstGeom>
          <a:solidFill>
            <a:srgbClr val="0000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2" name="Google Shape;422;p21"/>
          <p:cNvSpPr txBox="1"/>
          <p:nvPr/>
        </p:nvSpPr>
        <p:spPr>
          <a:xfrm>
            <a:off x="2209800" y="4876800"/>
            <a:ext cx="9144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21"/>
          <p:cNvSpPr txBox="1"/>
          <p:nvPr/>
        </p:nvSpPr>
        <p:spPr>
          <a:xfrm>
            <a:off x="685800" y="5518150"/>
            <a:ext cx="82296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-bit full adder requires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full- adders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2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</a:t>
            </a:r>
            <a:endParaRPr/>
          </a:p>
        </p:txBody>
      </p:sp>
      <p:sp>
        <p:nvSpPr>
          <p:cNvPr id="429" name="Google Shape;429;p22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40"/>
              <a:buFont typeface="Noto Sans Symbols"/>
              <a:buChar char="▪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examples using 4-bit parallel adder as building blocks: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Noto Sans Symbols"/>
              <a:buChar char="❖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16-Bit Parallel Adder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Noto Sans Symbols"/>
              <a:buChar char="❖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Adder cum Subtractor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Noto Sans Symbols"/>
              <a:buChar char="❖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BCD to excess 3 code converter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3"/>
          <p:cNvSpPr txBox="1"/>
          <p:nvPr>
            <p:ph type="title"/>
          </p:nvPr>
        </p:nvSpPr>
        <p:spPr>
          <a:xfrm>
            <a:off x="12192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4-bit Parallel Adder-Subtractor</a:t>
            </a:r>
            <a:endParaRPr/>
          </a:p>
        </p:txBody>
      </p:sp>
      <p:sp>
        <p:nvSpPr>
          <p:cNvPr id="435" name="Google Shape;435;p23"/>
          <p:cNvSpPr txBox="1"/>
          <p:nvPr>
            <p:ph idx="1" type="body"/>
          </p:nvPr>
        </p:nvSpPr>
        <p:spPr>
          <a:xfrm>
            <a:off x="1143000" y="1371600"/>
            <a:ext cx="7772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Subtraction can be performed through addition using 2s-complement numbers.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Hence, we can design a circuit which can perform </a:t>
            </a:r>
            <a:r>
              <a:rPr b="0" i="0" lang="en-US" sz="24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both addition and subtraction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using a parallel adder.</a:t>
            </a:r>
            <a:endParaRPr/>
          </a:p>
        </p:txBody>
      </p:sp>
      <p:grpSp>
        <p:nvGrpSpPr>
          <p:cNvPr id="436" name="Google Shape;436;p23"/>
          <p:cNvGrpSpPr/>
          <p:nvPr/>
        </p:nvGrpSpPr>
        <p:grpSpPr>
          <a:xfrm>
            <a:off x="2743200" y="3200400"/>
            <a:ext cx="5867400" cy="2728912"/>
            <a:chOff x="1728" y="2016"/>
            <a:chExt cx="3696" cy="1719"/>
          </a:xfrm>
        </p:grpSpPr>
        <p:sp>
          <p:nvSpPr>
            <p:cNvPr id="437" name="Google Shape;437;p23"/>
            <p:cNvSpPr txBox="1"/>
            <p:nvPr/>
          </p:nvSpPr>
          <p:spPr>
            <a:xfrm>
              <a:off x="1824" y="2544"/>
              <a:ext cx="2016" cy="624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8" name="Google Shape;438;p23"/>
            <p:cNvSpPr txBox="1"/>
            <p:nvPr/>
          </p:nvSpPr>
          <p:spPr>
            <a:xfrm>
              <a:off x="2112" y="2640"/>
              <a:ext cx="1440" cy="4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4-bit adder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cum subtractor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9" name="Google Shape;439;p23"/>
            <p:cNvCxnSpPr/>
            <p:nvPr/>
          </p:nvCxnSpPr>
          <p:spPr>
            <a:xfrm rot="5400000">
              <a:off x="2256" y="2400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440" name="Google Shape;440;p23"/>
            <p:cNvCxnSpPr/>
            <p:nvPr/>
          </p:nvCxnSpPr>
          <p:spPr>
            <a:xfrm flipH="1">
              <a:off x="3840" y="2880"/>
              <a:ext cx="288" cy="1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441" name="Google Shape;441;p23"/>
            <p:cNvCxnSpPr/>
            <p:nvPr/>
          </p:nvCxnSpPr>
          <p:spPr>
            <a:xfrm rot="5400000">
              <a:off x="2448" y="2400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442" name="Google Shape;442;p23"/>
            <p:cNvCxnSpPr/>
            <p:nvPr/>
          </p:nvCxnSpPr>
          <p:spPr>
            <a:xfrm rot="5400000">
              <a:off x="2928" y="2400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443" name="Google Shape;443;p23"/>
            <p:cNvCxnSpPr/>
            <p:nvPr/>
          </p:nvCxnSpPr>
          <p:spPr>
            <a:xfrm rot="5400000">
              <a:off x="3120" y="2400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444" name="Google Shape;444;p23"/>
            <p:cNvSpPr txBox="1"/>
            <p:nvPr/>
          </p:nvSpPr>
          <p:spPr>
            <a:xfrm>
              <a:off x="4128" y="2736"/>
              <a:ext cx="1296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S: control signal for add/subtract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23"/>
            <p:cNvSpPr txBox="1"/>
            <p:nvPr/>
          </p:nvSpPr>
          <p:spPr>
            <a:xfrm>
              <a:off x="2208" y="2016"/>
              <a:ext cx="3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1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23"/>
            <p:cNvSpPr txBox="1"/>
            <p:nvPr/>
          </p:nvSpPr>
          <p:spPr>
            <a:xfrm>
              <a:off x="2400" y="2016"/>
              <a:ext cx="3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1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23"/>
            <p:cNvSpPr txBox="1"/>
            <p:nvPr/>
          </p:nvSpPr>
          <p:spPr>
            <a:xfrm>
              <a:off x="2880" y="2016"/>
              <a:ext cx="3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1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23"/>
            <p:cNvSpPr txBox="1"/>
            <p:nvPr/>
          </p:nvSpPr>
          <p:spPr>
            <a:xfrm>
              <a:off x="3120" y="2016"/>
              <a:ext cx="28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1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23"/>
            <p:cNvSpPr txBox="1"/>
            <p:nvPr/>
          </p:nvSpPr>
          <p:spPr>
            <a:xfrm>
              <a:off x="1728" y="3504"/>
              <a:ext cx="206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Result: either X+Y or X-Y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50" name="Google Shape;450;p23"/>
            <p:cNvCxnSpPr/>
            <p:nvPr/>
          </p:nvCxnSpPr>
          <p:spPr>
            <a:xfrm rot="5400000">
              <a:off x="2496" y="3312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451" name="Google Shape;451;p23"/>
            <p:cNvCxnSpPr/>
            <p:nvPr/>
          </p:nvCxnSpPr>
          <p:spPr>
            <a:xfrm rot="5400000">
              <a:off x="2688" y="3312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452" name="Google Shape;452;p23"/>
            <p:cNvCxnSpPr/>
            <p:nvPr/>
          </p:nvCxnSpPr>
          <p:spPr>
            <a:xfrm rot="5400000">
              <a:off x="2880" y="3312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453" name="Google Shape;453;p23"/>
            <p:cNvCxnSpPr/>
            <p:nvPr/>
          </p:nvCxnSpPr>
          <p:spPr>
            <a:xfrm rot="5400000">
              <a:off x="3072" y="3312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454" name="Google Shape;454;p23"/>
            <p:cNvCxnSpPr/>
            <p:nvPr/>
          </p:nvCxnSpPr>
          <p:spPr>
            <a:xfrm rot="5400000">
              <a:off x="3312" y="2400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455" name="Google Shape;455;p23"/>
            <p:cNvCxnSpPr/>
            <p:nvPr/>
          </p:nvCxnSpPr>
          <p:spPr>
            <a:xfrm rot="5400000">
              <a:off x="3504" y="2400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456" name="Google Shape;456;p23"/>
            <p:cNvSpPr txBox="1"/>
            <p:nvPr/>
          </p:nvSpPr>
          <p:spPr>
            <a:xfrm>
              <a:off x="3312" y="2016"/>
              <a:ext cx="3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1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23"/>
            <p:cNvSpPr txBox="1"/>
            <p:nvPr/>
          </p:nvSpPr>
          <p:spPr>
            <a:xfrm>
              <a:off x="3504" y="2016"/>
              <a:ext cx="3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1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58" name="Google Shape;458;p23"/>
            <p:cNvCxnSpPr/>
            <p:nvPr/>
          </p:nvCxnSpPr>
          <p:spPr>
            <a:xfrm rot="5400000">
              <a:off x="1872" y="2400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459" name="Google Shape;459;p23"/>
            <p:cNvCxnSpPr/>
            <p:nvPr/>
          </p:nvCxnSpPr>
          <p:spPr>
            <a:xfrm rot="5400000">
              <a:off x="2064" y="2400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460" name="Google Shape;460;p23"/>
            <p:cNvSpPr txBox="1"/>
            <p:nvPr/>
          </p:nvSpPr>
          <p:spPr>
            <a:xfrm>
              <a:off x="1824" y="2016"/>
              <a:ext cx="3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1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23"/>
            <p:cNvSpPr txBox="1"/>
            <p:nvPr/>
          </p:nvSpPr>
          <p:spPr>
            <a:xfrm>
              <a:off x="2016" y="2016"/>
              <a:ext cx="3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1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2" name="Google Shape;462;p23"/>
            <p:cNvCxnSpPr/>
            <p:nvPr/>
          </p:nvCxnSpPr>
          <p:spPr>
            <a:xfrm rot="5400000">
              <a:off x="2304" y="3312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4"/>
          <p:cNvSpPr txBox="1"/>
          <p:nvPr>
            <p:ph type="title"/>
          </p:nvPr>
        </p:nvSpPr>
        <p:spPr>
          <a:xfrm>
            <a:off x="12192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4-bit Parallel Adder-Subtractor</a:t>
            </a:r>
            <a:endParaRPr/>
          </a:p>
        </p:txBody>
      </p:sp>
      <p:sp>
        <p:nvSpPr>
          <p:cNvPr id="468" name="Google Shape;468;p24"/>
          <p:cNvSpPr txBox="1"/>
          <p:nvPr>
            <p:ph idx="1" type="body"/>
          </p:nvPr>
        </p:nvSpPr>
        <p:spPr>
          <a:xfrm>
            <a:off x="1143000" y="1447800"/>
            <a:ext cx="7772400" cy="3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control signal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S=0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means add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 S=1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means subtract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Recall that: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X-Y = X + (-Y)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       = X + </a:t>
            </a:r>
            <a:r>
              <a:rPr b="0"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(2’s complement of Y)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       = X + </a:t>
            </a:r>
            <a:r>
              <a:rPr b="0"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(1’s complement of Y) +1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X+Y = X + (Y)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5"/>
          <p:cNvSpPr txBox="1"/>
          <p:nvPr>
            <p:ph type="title"/>
          </p:nvPr>
        </p:nvSpPr>
        <p:spPr>
          <a:xfrm>
            <a:off x="12192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4-bit Parallel Adder cum Subtractor</a:t>
            </a:r>
            <a:endParaRPr/>
          </a:p>
        </p:txBody>
      </p:sp>
      <p:sp>
        <p:nvSpPr>
          <p:cNvPr id="474" name="Google Shape;474;p25"/>
          <p:cNvSpPr txBox="1"/>
          <p:nvPr>
            <p:ph idx="1" type="body"/>
          </p:nvPr>
        </p:nvSpPr>
        <p:spPr>
          <a:xfrm>
            <a:off x="1143000" y="14478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requires: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(i) </a:t>
            </a:r>
            <a:r>
              <a:rPr b="0" i="0" lang="en-US" sz="20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XOR gates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</p:txBody>
      </p:sp>
      <p:sp>
        <p:nvSpPr>
          <p:cNvPr id="475" name="Google Shape;475;p25"/>
          <p:cNvSpPr txBox="1"/>
          <p:nvPr/>
        </p:nvSpPr>
        <p:spPr>
          <a:xfrm>
            <a:off x="1143000" y="3657600"/>
            <a:ext cx="7696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such that: output = Y when S=0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			  = Y' when S=1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(ii) </a:t>
            </a:r>
            <a:r>
              <a:rPr b="0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 connected to carry-in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6" name="Google Shape;476;p25"/>
          <p:cNvGrpSpPr/>
          <p:nvPr/>
        </p:nvGrpSpPr>
        <p:grpSpPr>
          <a:xfrm>
            <a:off x="2590800" y="2590800"/>
            <a:ext cx="2463800" cy="715962"/>
            <a:chOff x="2304" y="1104"/>
            <a:chExt cx="1552" cy="451"/>
          </a:xfrm>
        </p:grpSpPr>
        <p:grpSp>
          <p:nvGrpSpPr>
            <p:cNvPr id="477" name="Google Shape;477;p25"/>
            <p:cNvGrpSpPr/>
            <p:nvPr/>
          </p:nvGrpSpPr>
          <p:grpSpPr>
            <a:xfrm>
              <a:off x="3004" y="1152"/>
              <a:ext cx="523" cy="370"/>
              <a:chOff x="2279" y="2352"/>
              <a:chExt cx="523" cy="370"/>
            </a:xfrm>
          </p:grpSpPr>
          <p:sp>
            <p:nvSpPr>
              <p:cNvPr id="478" name="Google Shape;478;p25"/>
              <p:cNvSpPr/>
              <p:nvPr/>
            </p:nvSpPr>
            <p:spPr>
              <a:xfrm>
                <a:off x="2326" y="2352"/>
                <a:ext cx="68" cy="370"/>
              </a:xfrm>
              <a:custGeom>
                <a:rect b="b" l="l" r="r" t="t"/>
                <a:pathLst>
                  <a:path extrusionOk="0" h="864" w="288">
                    <a:moveTo>
                      <a:pt x="0" y="0"/>
                    </a:moveTo>
                    <a:cubicBezTo>
                      <a:pt x="144" y="144"/>
                      <a:pt x="288" y="288"/>
                      <a:pt x="288" y="432"/>
                    </a:cubicBezTo>
                    <a:cubicBezTo>
                      <a:pt x="288" y="576"/>
                      <a:pt x="48" y="792"/>
                      <a:pt x="0" y="864"/>
                    </a:cubicBezTo>
                  </a:path>
                </a:pathLst>
              </a:custGeom>
              <a:noFill/>
              <a:ln cap="flat" cmpd="sng" w="158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479" name="Google Shape;479;p25"/>
              <p:cNvCxnSpPr/>
              <p:nvPr/>
            </p:nvCxnSpPr>
            <p:spPr>
              <a:xfrm>
                <a:off x="2326" y="2352"/>
                <a:ext cx="170" cy="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80" name="Google Shape;480;p25"/>
              <p:cNvCxnSpPr/>
              <p:nvPr/>
            </p:nvCxnSpPr>
            <p:spPr>
              <a:xfrm>
                <a:off x="2326" y="2722"/>
                <a:ext cx="170" cy="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81" name="Google Shape;481;p25"/>
              <p:cNvSpPr/>
              <p:nvPr/>
            </p:nvSpPr>
            <p:spPr>
              <a:xfrm>
                <a:off x="2496" y="2352"/>
                <a:ext cx="306" cy="202"/>
              </a:xfrm>
              <a:custGeom>
                <a:rect b="b" l="l" r="r" t="t"/>
                <a:pathLst>
                  <a:path extrusionOk="0" h="432" w="576">
                    <a:moveTo>
                      <a:pt x="0" y="0"/>
                    </a:moveTo>
                    <a:cubicBezTo>
                      <a:pt x="168" y="36"/>
                      <a:pt x="336" y="72"/>
                      <a:pt x="432" y="144"/>
                    </a:cubicBezTo>
                    <a:cubicBezTo>
                      <a:pt x="528" y="216"/>
                      <a:pt x="552" y="324"/>
                      <a:pt x="576" y="432"/>
                    </a:cubicBezTo>
                  </a:path>
                </a:pathLst>
              </a:custGeom>
              <a:noFill/>
              <a:ln cap="flat" cmpd="sng" w="158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2" name="Google Shape;482;p25"/>
              <p:cNvSpPr/>
              <p:nvPr/>
            </p:nvSpPr>
            <p:spPr>
              <a:xfrm flipH="1" rot="10800000">
                <a:off x="2496" y="2520"/>
                <a:ext cx="306" cy="202"/>
              </a:xfrm>
              <a:custGeom>
                <a:rect b="b" l="l" r="r" t="t"/>
                <a:pathLst>
                  <a:path extrusionOk="0" h="432" w="576">
                    <a:moveTo>
                      <a:pt x="0" y="0"/>
                    </a:moveTo>
                    <a:cubicBezTo>
                      <a:pt x="168" y="36"/>
                      <a:pt x="336" y="72"/>
                      <a:pt x="432" y="144"/>
                    </a:cubicBezTo>
                    <a:cubicBezTo>
                      <a:pt x="528" y="216"/>
                      <a:pt x="552" y="324"/>
                      <a:pt x="576" y="432"/>
                    </a:cubicBezTo>
                  </a:path>
                </a:pathLst>
              </a:custGeom>
              <a:noFill/>
              <a:ln cap="flat" cmpd="sng" w="158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3" name="Google Shape;483;p25"/>
              <p:cNvSpPr/>
              <p:nvPr/>
            </p:nvSpPr>
            <p:spPr>
              <a:xfrm>
                <a:off x="2279" y="2352"/>
                <a:ext cx="68" cy="370"/>
              </a:xfrm>
              <a:custGeom>
                <a:rect b="b" l="l" r="r" t="t"/>
                <a:pathLst>
                  <a:path extrusionOk="0" h="864" w="288">
                    <a:moveTo>
                      <a:pt x="0" y="0"/>
                    </a:moveTo>
                    <a:cubicBezTo>
                      <a:pt x="144" y="144"/>
                      <a:pt x="288" y="288"/>
                      <a:pt x="288" y="432"/>
                    </a:cubicBezTo>
                    <a:cubicBezTo>
                      <a:pt x="288" y="576"/>
                      <a:pt x="48" y="792"/>
                      <a:pt x="0" y="864"/>
                    </a:cubicBezTo>
                  </a:path>
                </a:pathLst>
              </a:custGeom>
              <a:noFill/>
              <a:ln cap="flat" cmpd="sng" w="158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484" name="Google Shape;484;p25"/>
            <p:cNvCxnSpPr/>
            <p:nvPr/>
          </p:nvCxnSpPr>
          <p:spPr>
            <a:xfrm>
              <a:off x="2764" y="1248"/>
              <a:ext cx="336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5" name="Google Shape;485;p25"/>
            <p:cNvCxnSpPr/>
            <p:nvPr/>
          </p:nvCxnSpPr>
          <p:spPr>
            <a:xfrm>
              <a:off x="2764" y="1440"/>
              <a:ext cx="336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86" name="Google Shape;486;p25"/>
            <p:cNvSpPr txBox="1"/>
            <p:nvPr/>
          </p:nvSpPr>
          <p:spPr>
            <a:xfrm>
              <a:off x="2304" y="1324"/>
              <a:ext cx="50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 = 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25"/>
            <p:cNvSpPr txBox="1"/>
            <p:nvPr/>
          </p:nvSpPr>
          <p:spPr>
            <a:xfrm>
              <a:off x="3532" y="1104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25"/>
            <p:cNvSpPr txBox="1"/>
            <p:nvPr/>
          </p:nvSpPr>
          <p:spPr>
            <a:xfrm>
              <a:off x="2592" y="1119"/>
              <a:ext cx="22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9" name="Google Shape;489;p25"/>
            <p:cNvCxnSpPr/>
            <p:nvPr/>
          </p:nvCxnSpPr>
          <p:spPr>
            <a:xfrm>
              <a:off x="3520" y="1331"/>
              <a:ext cx="336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90" name="Google Shape;490;p25"/>
          <p:cNvGrpSpPr/>
          <p:nvPr/>
        </p:nvGrpSpPr>
        <p:grpSpPr>
          <a:xfrm>
            <a:off x="5562600" y="2590800"/>
            <a:ext cx="2387600" cy="715962"/>
            <a:chOff x="3936" y="1104"/>
            <a:chExt cx="1504" cy="451"/>
          </a:xfrm>
        </p:grpSpPr>
        <p:grpSp>
          <p:nvGrpSpPr>
            <p:cNvPr id="491" name="Google Shape;491;p25"/>
            <p:cNvGrpSpPr/>
            <p:nvPr/>
          </p:nvGrpSpPr>
          <p:grpSpPr>
            <a:xfrm>
              <a:off x="4588" y="1152"/>
              <a:ext cx="523" cy="370"/>
              <a:chOff x="2279" y="2352"/>
              <a:chExt cx="523" cy="370"/>
            </a:xfrm>
          </p:grpSpPr>
          <p:sp>
            <p:nvSpPr>
              <p:cNvPr id="492" name="Google Shape;492;p25"/>
              <p:cNvSpPr/>
              <p:nvPr/>
            </p:nvSpPr>
            <p:spPr>
              <a:xfrm>
                <a:off x="2326" y="2352"/>
                <a:ext cx="68" cy="370"/>
              </a:xfrm>
              <a:custGeom>
                <a:rect b="b" l="l" r="r" t="t"/>
                <a:pathLst>
                  <a:path extrusionOk="0" h="864" w="288">
                    <a:moveTo>
                      <a:pt x="0" y="0"/>
                    </a:moveTo>
                    <a:cubicBezTo>
                      <a:pt x="144" y="144"/>
                      <a:pt x="288" y="288"/>
                      <a:pt x="288" y="432"/>
                    </a:cubicBezTo>
                    <a:cubicBezTo>
                      <a:pt x="288" y="576"/>
                      <a:pt x="48" y="792"/>
                      <a:pt x="0" y="864"/>
                    </a:cubicBezTo>
                  </a:path>
                </a:pathLst>
              </a:custGeom>
              <a:noFill/>
              <a:ln cap="flat" cmpd="sng" w="158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493" name="Google Shape;493;p25"/>
              <p:cNvCxnSpPr/>
              <p:nvPr/>
            </p:nvCxnSpPr>
            <p:spPr>
              <a:xfrm>
                <a:off x="2326" y="2352"/>
                <a:ext cx="170" cy="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94" name="Google Shape;494;p25"/>
              <p:cNvCxnSpPr/>
              <p:nvPr/>
            </p:nvCxnSpPr>
            <p:spPr>
              <a:xfrm>
                <a:off x="2326" y="2722"/>
                <a:ext cx="170" cy="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95" name="Google Shape;495;p25"/>
              <p:cNvSpPr/>
              <p:nvPr/>
            </p:nvSpPr>
            <p:spPr>
              <a:xfrm>
                <a:off x="2496" y="2352"/>
                <a:ext cx="306" cy="202"/>
              </a:xfrm>
              <a:custGeom>
                <a:rect b="b" l="l" r="r" t="t"/>
                <a:pathLst>
                  <a:path extrusionOk="0" h="432" w="576">
                    <a:moveTo>
                      <a:pt x="0" y="0"/>
                    </a:moveTo>
                    <a:cubicBezTo>
                      <a:pt x="168" y="36"/>
                      <a:pt x="336" y="72"/>
                      <a:pt x="432" y="144"/>
                    </a:cubicBezTo>
                    <a:cubicBezTo>
                      <a:pt x="528" y="216"/>
                      <a:pt x="552" y="324"/>
                      <a:pt x="576" y="432"/>
                    </a:cubicBezTo>
                  </a:path>
                </a:pathLst>
              </a:custGeom>
              <a:noFill/>
              <a:ln cap="flat" cmpd="sng" w="158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6" name="Google Shape;496;p25"/>
              <p:cNvSpPr/>
              <p:nvPr/>
            </p:nvSpPr>
            <p:spPr>
              <a:xfrm flipH="1" rot="10800000">
                <a:off x="2496" y="2520"/>
                <a:ext cx="306" cy="202"/>
              </a:xfrm>
              <a:custGeom>
                <a:rect b="b" l="l" r="r" t="t"/>
                <a:pathLst>
                  <a:path extrusionOk="0" h="432" w="576">
                    <a:moveTo>
                      <a:pt x="0" y="0"/>
                    </a:moveTo>
                    <a:cubicBezTo>
                      <a:pt x="168" y="36"/>
                      <a:pt x="336" y="72"/>
                      <a:pt x="432" y="144"/>
                    </a:cubicBezTo>
                    <a:cubicBezTo>
                      <a:pt x="528" y="216"/>
                      <a:pt x="552" y="324"/>
                      <a:pt x="576" y="432"/>
                    </a:cubicBezTo>
                  </a:path>
                </a:pathLst>
              </a:custGeom>
              <a:noFill/>
              <a:ln cap="flat" cmpd="sng" w="158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7" name="Google Shape;497;p25"/>
              <p:cNvSpPr/>
              <p:nvPr/>
            </p:nvSpPr>
            <p:spPr>
              <a:xfrm>
                <a:off x="2279" y="2352"/>
                <a:ext cx="68" cy="370"/>
              </a:xfrm>
              <a:custGeom>
                <a:rect b="b" l="l" r="r" t="t"/>
                <a:pathLst>
                  <a:path extrusionOk="0" h="864" w="288">
                    <a:moveTo>
                      <a:pt x="0" y="0"/>
                    </a:moveTo>
                    <a:cubicBezTo>
                      <a:pt x="144" y="144"/>
                      <a:pt x="288" y="288"/>
                      <a:pt x="288" y="432"/>
                    </a:cubicBezTo>
                    <a:cubicBezTo>
                      <a:pt x="288" y="576"/>
                      <a:pt x="48" y="792"/>
                      <a:pt x="0" y="864"/>
                    </a:cubicBezTo>
                  </a:path>
                </a:pathLst>
              </a:custGeom>
              <a:noFill/>
              <a:ln cap="flat" cmpd="sng" w="158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498" name="Google Shape;498;p25"/>
            <p:cNvCxnSpPr/>
            <p:nvPr/>
          </p:nvCxnSpPr>
          <p:spPr>
            <a:xfrm>
              <a:off x="4348" y="1248"/>
              <a:ext cx="336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9" name="Google Shape;499;p25"/>
            <p:cNvCxnSpPr/>
            <p:nvPr/>
          </p:nvCxnSpPr>
          <p:spPr>
            <a:xfrm>
              <a:off x="4348" y="1440"/>
              <a:ext cx="336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00" name="Google Shape;500;p25"/>
            <p:cNvSpPr txBox="1"/>
            <p:nvPr/>
          </p:nvSpPr>
          <p:spPr>
            <a:xfrm>
              <a:off x="3936" y="1324"/>
              <a:ext cx="46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 =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25"/>
            <p:cNvSpPr txBox="1"/>
            <p:nvPr/>
          </p:nvSpPr>
          <p:spPr>
            <a:xfrm>
              <a:off x="5116" y="1104"/>
              <a:ext cx="24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Y'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25"/>
            <p:cNvSpPr txBox="1"/>
            <p:nvPr/>
          </p:nvSpPr>
          <p:spPr>
            <a:xfrm>
              <a:off x="4176" y="1119"/>
              <a:ext cx="22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03" name="Google Shape;503;p25"/>
            <p:cNvCxnSpPr/>
            <p:nvPr/>
          </p:nvCxnSpPr>
          <p:spPr>
            <a:xfrm>
              <a:off x="5104" y="1331"/>
              <a:ext cx="336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aphicFrame>
        <p:nvGraphicFramePr>
          <p:cNvPr id="504" name="Google Shape;504;p25"/>
          <p:cNvGraphicFramePr/>
          <p:nvPr/>
        </p:nvGraphicFramePr>
        <p:xfrm>
          <a:off x="5697537" y="487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{E0FF9D44-25B9-411E-B779-2A3952B94EEA}</a:tableStyleId>
              </a:tblPr>
              <a:tblGrid>
                <a:gridCol w="1041400"/>
                <a:gridCol w="1041400"/>
                <a:gridCol w="1041400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Output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6EF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6EF"/>
                    </a:solidFill>
                  </a:tcPr>
                </a:tc>
              </a:tr>
            </a:tbl>
          </a:graphicData>
        </a:graphic>
      </p:graphicFrame>
      <p:sp>
        <p:nvSpPr>
          <p:cNvPr id="505" name="Google Shape;505;p25"/>
          <p:cNvSpPr/>
          <p:nvPr/>
        </p:nvSpPr>
        <p:spPr>
          <a:xfrm>
            <a:off x="5105400" y="6042025"/>
            <a:ext cx="3937000" cy="56356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6" name="Google Shape;506;p25"/>
          <p:cNvSpPr/>
          <p:nvPr/>
        </p:nvSpPr>
        <p:spPr>
          <a:xfrm>
            <a:off x="5216525" y="5330825"/>
            <a:ext cx="3937000" cy="56356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6"/>
          <p:cNvSpPr txBox="1"/>
          <p:nvPr>
            <p:ph type="title"/>
          </p:nvPr>
        </p:nvSpPr>
        <p:spPr>
          <a:xfrm>
            <a:off x="12192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4-bit Parallel Adder cum Subtractor</a:t>
            </a:r>
            <a:endParaRPr/>
          </a:p>
        </p:txBody>
      </p:sp>
      <p:sp>
        <p:nvSpPr>
          <p:cNvPr id="512" name="Google Shape;512;p26"/>
          <p:cNvSpPr txBox="1"/>
          <p:nvPr>
            <p:ph idx="1" type="body"/>
          </p:nvPr>
        </p:nvSpPr>
        <p:spPr>
          <a:xfrm>
            <a:off x="1143000" y="129540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Adder cum subtractor circuit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</p:txBody>
      </p:sp>
      <p:sp>
        <p:nvSpPr>
          <p:cNvPr id="513" name="Google Shape;513;p26"/>
          <p:cNvSpPr txBox="1"/>
          <p:nvPr/>
        </p:nvSpPr>
        <p:spPr>
          <a:xfrm>
            <a:off x="5410200" y="3810000"/>
            <a:ext cx="3581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Analysis: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=1, then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X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(1's complement of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+1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appears as the result.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=0, then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appears 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result.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4" name="Google Shape;514;p26"/>
          <p:cNvGrpSpPr/>
          <p:nvPr/>
        </p:nvGrpSpPr>
        <p:grpSpPr>
          <a:xfrm>
            <a:off x="1295400" y="1828800"/>
            <a:ext cx="4724400" cy="3338512"/>
            <a:chOff x="816" y="1152"/>
            <a:chExt cx="2976" cy="2103"/>
          </a:xfrm>
        </p:grpSpPr>
        <p:sp>
          <p:nvSpPr>
            <p:cNvPr id="515" name="Google Shape;515;p26"/>
            <p:cNvSpPr txBox="1"/>
            <p:nvPr/>
          </p:nvSpPr>
          <p:spPr>
            <a:xfrm>
              <a:off x="1296" y="2112"/>
              <a:ext cx="2016" cy="624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6" name="Google Shape;516;p26"/>
            <p:cNvSpPr txBox="1"/>
            <p:nvPr/>
          </p:nvSpPr>
          <p:spPr>
            <a:xfrm>
              <a:off x="1584" y="2208"/>
              <a:ext cx="1440" cy="4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4-bit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parallel adder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7" name="Google Shape;517;p26"/>
            <p:cNvCxnSpPr/>
            <p:nvPr/>
          </p:nvCxnSpPr>
          <p:spPr>
            <a:xfrm rot="5400000">
              <a:off x="1728" y="1968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518" name="Google Shape;518;p26"/>
            <p:cNvCxnSpPr/>
            <p:nvPr/>
          </p:nvCxnSpPr>
          <p:spPr>
            <a:xfrm flipH="1">
              <a:off x="1008" y="2400"/>
              <a:ext cx="288" cy="1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519" name="Google Shape;519;p26"/>
            <p:cNvCxnSpPr/>
            <p:nvPr/>
          </p:nvCxnSpPr>
          <p:spPr>
            <a:xfrm rot="5400000">
              <a:off x="1920" y="1968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520" name="Google Shape;520;p26"/>
            <p:cNvCxnSpPr/>
            <p:nvPr/>
          </p:nvCxnSpPr>
          <p:spPr>
            <a:xfrm rot="5400000">
              <a:off x="2424" y="1992"/>
              <a:ext cx="240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521" name="Google Shape;521;p26"/>
            <p:cNvCxnSpPr/>
            <p:nvPr/>
          </p:nvCxnSpPr>
          <p:spPr>
            <a:xfrm rot="5400000">
              <a:off x="2616" y="1992"/>
              <a:ext cx="240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522" name="Google Shape;522;p26"/>
            <p:cNvSpPr txBox="1"/>
            <p:nvPr/>
          </p:nvSpPr>
          <p:spPr>
            <a:xfrm>
              <a:off x="1680" y="1584"/>
              <a:ext cx="3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1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26"/>
            <p:cNvSpPr txBox="1"/>
            <p:nvPr/>
          </p:nvSpPr>
          <p:spPr>
            <a:xfrm>
              <a:off x="1872" y="1584"/>
              <a:ext cx="3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1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26"/>
            <p:cNvSpPr txBox="1"/>
            <p:nvPr/>
          </p:nvSpPr>
          <p:spPr>
            <a:xfrm>
              <a:off x="2304" y="1152"/>
              <a:ext cx="3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1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26"/>
            <p:cNvSpPr txBox="1"/>
            <p:nvPr/>
          </p:nvSpPr>
          <p:spPr>
            <a:xfrm>
              <a:off x="2544" y="1152"/>
              <a:ext cx="28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1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6" name="Google Shape;526;p26"/>
            <p:cNvCxnSpPr/>
            <p:nvPr/>
          </p:nvCxnSpPr>
          <p:spPr>
            <a:xfrm rot="5400000">
              <a:off x="1872" y="2880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527" name="Google Shape;527;p26"/>
            <p:cNvCxnSpPr/>
            <p:nvPr/>
          </p:nvCxnSpPr>
          <p:spPr>
            <a:xfrm rot="5400000">
              <a:off x="2064" y="2880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528" name="Google Shape;528;p26"/>
            <p:cNvCxnSpPr/>
            <p:nvPr/>
          </p:nvCxnSpPr>
          <p:spPr>
            <a:xfrm rot="5400000">
              <a:off x="2256" y="2880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529" name="Google Shape;529;p26"/>
            <p:cNvCxnSpPr/>
            <p:nvPr/>
          </p:nvCxnSpPr>
          <p:spPr>
            <a:xfrm rot="5400000">
              <a:off x="2448" y="2880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530" name="Google Shape;530;p26"/>
            <p:cNvCxnSpPr/>
            <p:nvPr/>
          </p:nvCxnSpPr>
          <p:spPr>
            <a:xfrm rot="5400000">
              <a:off x="2808" y="1992"/>
              <a:ext cx="240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531" name="Google Shape;531;p26"/>
            <p:cNvCxnSpPr/>
            <p:nvPr/>
          </p:nvCxnSpPr>
          <p:spPr>
            <a:xfrm rot="5400000">
              <a:off x="3000" y="1992"/>
              <a:ext cx="240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532" name="Google Shape;532;p26"/>
            <p:cNvSpPr txBox="1"/>
            <p:nvPr/>
          </p:nvSpPr>
          <p:spPr>
            <a:xfrm>
              <a:off x="2736" y="1152"/>
              <a:ext cx="3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1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26"/>
            <p:cNvSpPr txBox="1"/>
            <p:nvPr/>
          </p:nvSpPr>
          <p:spPr>
            <a:xfrm>
              <a:off x="2928" y="1152"/>
              <a:ext cx="3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1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4" name="Google Shape;534;p26"/>
            <p:cNvCxnSpPr/>
            <p:nvPr/>
          </p:nvCxnSpPr>
          <p:spPr>
            <a:xfrm rot="5400000">
              <a:off x="1344" y="1968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535" name="Google Shape;535;p26"/>
            <p:cNvCxnSpPr/>
            <p:nvPr/>
          </p:nvCxnSpPr>
          <p:spPr>
            <a:xfrm rot="5400000">
              <a:off x="1536" y="1968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536" name="Google Shape;536;p26"/>
            <p:cNvSpPr txBox="1"/>
            <p:nvPr/>
          </p:nvSpPr>
          <p:spPr>
            <a:xfrm>
              <a:off x="1296" y="1584"/>
              <a:ext cx="3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1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26"/>
            <p:cNvSpPr txBox="1"/>
            <p:nvPr/>
          </p:nvSpPr>
          <p:spPr>
            <a:xfrm>
              <a:off x="1488" y="1584"/>
              <a:ext cx="3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1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26"/>
            <p:cNvSpPr txBox="1"/>
            <p:nvPr/>
          </p:nvSpPr>
          <p:spPr>
            <a:xfrm>
              <a:off x="2256" y="3024"/>
              <a:ext cx="3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1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26"/>
            <p:cNvSpPr txBox="1"/>
            <p:nvPr/>
          </p:nvSpPr>
          <p:spPr>
            <a:xfrm>
              <a:off x="2448" y="3024"/>
              <a:ext cx="3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1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26"/>
            <p:cNvSpPr txBox="1"/>
            <p:nvPr/>
          </p:nvSpPr>
          <p:spPr>
            <a:xfrm>
              <a:off x="1872" y="3024"/>
              <a:ext cx="3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1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26"/>
            <p:cNvSpPr txBox="1"/>
            <p:nvPr/>
          </p:nvSpPr>
          <p:spPr>
            <a:xfrm>
              <a:off x="2064" y="3024"/>
              <a:ext cx="3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1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26"/>
            <p:cNvSpPr txBox="1"/>
            <p:nvPr/>
          </p:nvSpPr>
          <p:spPr>
            <a:xfrm>
              <a:off x="816" y="2256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3" name="Google Shape;543;p26"/>
            <p:cNvGrpSpPr/>
            <p:nvPr/>
          </p:nvGrpSpPr>
          <p:grpSpPr>
            <a:xfrm rot="5400000">
              <a:off x="2428" y="1684"/>
              <a:ext cx="240" cy="135"/>
              <a:chOff x="2279" y="2352"/>
              <a:chExt cx="523" cy="370"/>
            </a:xfrm>
          </p:grpSpPr>
          <p:sp>
            <p:nvSpPr>
              <p:cNvPr id="544" name="Google Shape;544;p26"/>
              <p:cNvSpPr/>
              <p:nvPr/>
            </p:nvSpPr>
            <p:spPr>
              <a:xfrm>
                <a:off x="2326" y="2352"/>
                <a:ext cx="68" cy="370"/>
              </a:xfrm>
              <a:custGeom>
                <a:rect b="b" l="l" r="r" t="t"/>
                <a:pathLst>
                  <a:path extrusionOk="0" h="864" w="288">
                    <a:moveTo>
                      <a:pt x="0" y="0"/>
                    </a:moveTo>
                    <a:cubicBezTo>
                      <a:pt x="144" y="144"/>
                      <a:pt x="288" y="288"/>
                      <a:pt x="288" y="432"/>
                    </a:cubicBezTo>
                    <a:cubicBezTo>
                      <a:pt x="288" y="576"/>
                      <a:pt x="48" y="792"/>
                      <a:pt x="0" y="864"/>
                    </a:cubicBezTo>
                  </a:path>
                </a:pathLst>
              </a:custGeom>
              <a:noFill/>
              <a:ln cap="flat" cmpd="sng" w="158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545" name="Google Shape;545;p26"/>
              <p:cNvCxnSpPr/>
              <p:nvPr/>
            </p:nvCxnSpPr>
            <p:spPr>
              <a:xfrm>
                <a:off x="2326" y="2352"/>
                <a:ext cx="170" cy="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46" name="Google Shape;546;p26"/>
              <p:cNvCxnSpPr/>
              <p:nvPr/>
            </p:nvCxnSpPr>
            <p:spPr>
              <a:xfrm>
                <a:off x="2326" y="2722"/>
                <a:ext cx="170" cy="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547" name="Google Shape;547;p26"/>
              <p:cNvSpPr/>
              <p:nvPr/>
            </p:nvSpPr>
            <p:spPr>
              <a:xfrm>
                <a:off x="2496" y="2352"/>
                <a:ext cx="306" cy="202"/>
              </a:xfrm>
              <a:custGeom>
                <a:rect b="b" l="l" r="r" t="t"/>
                <a:pathLst>
                  <a:path extrusionOk="0" h="432" w="576">
                    <a:moveTo>
                      <a:pt x="0" y="0"/>
                    </a:moveTo>
                    <a:cubicBezTo>
                      <a:pt x="168" y="36"/>
                      <a:pt x="336" y="72"/>
                      <a:pt x="432" y="144"/>
                    </a:cubicBezTo>
                    <a:cubicBezTo>
                      <a:pt x="528" y="216"/>
                      <a:pt x="552" y="324"/>
                      <a:pt x="576" y="432"/>
                    </a:cubicBezTo>
                  </a:path>
                </a:pathLst>
              </a:custGeom>
              <a:noFill/>
              <a:ln cap="flat" cmpd="sng" w="158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48" name="Google Shape;548;p26"/>
              <p:cNvSpPr/>
              <p:nvPr/>
            </p:nvSpPr>
            <p:spPr>
              <a:xfrm flipH="1" rot="10800000">
                <a:off x="2496" y="2520"/>
                <a:ext cx="306" cy="202"/>
              </a:xfrm>
              <a:custGeom>
                <a:rect b="b" l="l" r="r" t="t"/>
                <a:pathLst>
                  <a:path extrusionOk="0" h="432" w="576">
                    <a:moveTo>
                      <a:pt x="0" y="0"/>
                    </a:moveTo>
                    <a:cubicBezTo>
                      <a:pt x="168" y="36"/>
                      <a:pt x="336" y="72"/>
                      <a:pt x="432" y="144"/>
                    </a:cubicBezTo>
                    <a:cubicBezTo>
                      <a:pt x="528" y="216"/>
                      <a:pt x="552" y="324"/>
                      <a:pt x="576" y="432"/>
                    </a:cubicBezTo>
                  </a:path>
                </a:pathLst>
              </a:custGeom>
              <a:noFill/>
              <a:ln cap="flat" cmpd="sng" w="158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49" name="Google Shape;549;p26"/>
              <p:cNvSpPr/>
              <p:nvPr/>
            </p:nvSpPr>
            <p:spPr>
              <a:xfrm>
                <a:off x="2279" y="2352"/>
                <a:ext cx="68" cy="370"/>
              </a:xfrm>
              <a:custGeom>
                <a:rect b="b" l="l" r="r" t="t"/>
                <a:pathLst>
                  <a:path extrusionOk="0" h="864" w="288">
                    <a:moveTo>
                      <a:pt x="0" y="0"/>
                    </a:moveTo>
                    <a:cubicBezTo>
                      <a:pt x="144" y="144"/>
                      <a:pt x="288" y="288"/>
                      <a:pt x="288" y="432"/>
                    </a:cubicBezTo>
                    <a:cubicBezTo>
                      <a:pt x="288" y="576"/>
                      <a:pt x="48" y="792"/>
                      <a:pt x="0" y="864"/>
                    </a:cubicBezTo>
                  </a:path>
                </a:pathLst>
              </a:custGeom>
              <a:noFill/>
              <a:ln cap="flat" cmpd="sng" w="158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50" name="Google Shape;550;p26"/>
            <p:cNvGrpSpPr/>
            <p:nvPr/>
          </p:nvGrpSpPr>
          <p:grpSpPr>
            <a:xfrm rot="5400000">
              <a:off x="2620" y="1684"/>
              <a:ext cx="240" cy="135"/>
              <a:chOff x="2279" y="2352"/>
              <a:chExt cx="523" cy="370"/>
            </a:xfrm>
          </p:grpSpPr>
          <p:sp>
            <p:nvSpPr>
              <p:cNvPr id="551" name="Google Shape;551;p26"/>
              <p:cNvSpPr/>
              <p:nvPr/>
            </p:nvSpPr>
            <p:spPr>
              <a:xfrm>
                <a:off x="2326" y="2352"/>
                <a:ext cx="68" cy="370"/>
              </a:xfrm>
              <a:custGeom>
                <a:rect b="b" l="l" r="r" t="t"/>
                <a:pathLst>
                  <a:path extrusionOk="0" h="864" w="288">
                    <a:moveTo>
                      <a:pt x="0" y="0"/>
                    </a:moveTo>
                    <a:cubicBezTo>
                      <a:pt x="144" y="144"/>
                      <a:pt x="288" y="288"/>
                      <a:pt x="288" y="432"/>
                    </a:cubicBezTo>
                    <a:cubicBezTo>
                      <a:pt x="288" y="576"/>
                      <a:pt x="48" y="792"/>
                      <a:pt x="0" y="864"/>
                    </a:cubicBezTo>
                  </a:path>
                </a:pathLst>
              </a:custGeom>
              <a:noFill/>
              <a:ln cap="flat" cmpd="sng" w="158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552" name="Google Shape;552;p26"/>
              <p:cNvCxnSpPr/>
              <p:nvPr/>
            </p:nvCxnSpPr>
            <p:spPr>
              <a:xfrm>
                <a:off x="2326" y="2352"/>
                <a:ext cx="170" cy="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53" name="Google Shape;553;p26"/>
              <p:cNvCxnSpPr/>
              <p:nvPr/>
            </p:nvCxnSpPr>
            <p:spPr>
              <a:xfrm>
                <a:off x="2326" y="2722"/>
                <a:ext cx="170" cy="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554" name="Google Shape;554;p26"/>
              <p:cNvSpPr/>
              <p:nvPr/>
            </p:nvSpPr>
            <p:spPr>
              <a:xfrm>
                <a:off x="2496" y="2352"/>
                <a:ext cx="306" cy="202"/>
              </a:xfrm>
              <a:custGeom>
                <a:rect b="b" l="l" r="r" t="t"/>
                <a:pathLst>
                  <a:path extrusionOk="0" h="432" w="576">
                    <a:moveTo>
                      <a:pt x="0" y="0"/>
                    </a:moveTo>
                    <a:cubicBezTo>
                      <a:pt x="168" y="36"/>
                      <a:pt x="336" y="72"/>
                      <a:pt x="432" y="144"/>
                    </a:cubicBezTo>
                    <a:cubicBezTo>
                      <a:pt x="528" y="216"/>
                      <a:pt x="552" y="324"/>
                      <a:pt x="576" y="432"/>
                    </a:cubicBezTo>
                  </a:path>
                </a:pathLst>
              </a:custGeom>
              <a:noFill/>
              <a:ln cap="flat" cmpd="sng" w="158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55" name="Google Shape;555;p26"/>
              <p:cNvSpPr/>
              <p:nvPr/>
            </p:nvSpPr>
            <p:spPr>
              <a:xfrm flipH="1" rot="10800000">
                <a:off x="2496" y="2520"/>
                <a:ext cx="306" cy="202"/>
              </a:xfrm>
              <a:custGeom>
                <a:rect b="b" l="l" r="r" t="t"/>
                <a:pathLst>
                  <a:path extrusionOk="0" h="432" w="576">
                    <a:moveTo>
                      <a:pt x="0" y="0"/>
                    </a:moveTo>
                    <a:cubicBezTo>
                      <a:pt x="168" y="36"/>
                      <a:pt x="336" y="72"/>
                      <a:pt x="432" y="144"/>
                    </a:cubicBezTo>
                    <a:cubicBezTo>
                      <a:pt x="528" y="216"/>
                      <a:pt x="552" y="324"/>
                      <a:pt x="576" y="432"/>
                    </a:cubicBezTo>
                  </a:path>
                </a:pathLst>
              </a:custGeom>
              <a:noFill/>
              <a:ln cap="flat" cmpd="sng" w="158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56" name="Google Shape;556;p26"/>
              <p:cNvSpPr/>
              <p:nvPr/>
            </p:nvSpPr>
            <p:spPr>
              <a:xfrm>
                <a:off x="2279" y="2352"/>
                <a:ext cx="68" cy="370"/>
              </a:xfrm>
              <a:custGeom>
                <a:rect b="b" l="l" r="r" t="t"/>
                <a:pathLst>
                  <a:path extrusionOk="0" h="864" w="288">
                    <a:moveTo>
                      <a:pt x="0" y="0"/>
                    </a:moveTo>
                    <a:cubicBezTo>
                      <a:pt x="144" y="144"/>
                      <a:pt x="288" y="288"/>
                      <a:pt x="288" y="432"/>
                    </a:cubicBezTo>
                    <a:cubicBezTo>
                      <a:pt x="288" y="576"/>
                      <a:pt x="48" y="792"/>
                      <a:pt x="0" y="864"/>
                    </a:cubicBezTo>
                  </a:path>
                </a:pathLst>
              </a:custGeom>
              <a:noFill/>
              <a:ln cap="flat" cmpd="sng" w="158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57" name="Google Shape;557;p26"/>
            <p:cNvGrpSpPr/>
            <p:nvPr/>
          </p:nvGrpSpPr>
          <p:grpSpPr>
            <a:xfrm rot="5400000">
              <a:off x="2812" y="1684"/>
              <a:ext cx="240" cy="135"/>
              <a:chOff x="2279" y="2352"/>
              <a:chExt cx="523" cy="370"/>
            </a:xfrm>
          </p:grpSpPr>
          <p:sp>
            <p:nvSpPr>
              <p:cNvPr id="558" name="Google Shape;558;p26"/>
              <p:cNvSpPr/>
              <p:nvPr/>
            </p:nvSpPr>
            <p:spPr>
              <a:xfrm>
                <a:off x="2326" y="2352"/>
                <a:ext cx="68" cy="370"/>
              </a:xfrm>
              <a:custGeom>
                <a:rect b="b" l="l" r="r" t="t"/>
                <a:pathLst>
                  <a:path extrusionOk="0" h="864" w="288">
                    <a:moveTo>
                      <a:pt x="0" y="0"/>
                    </a:moveTo>
                    <a:cubicBezTo>
                      <a:pt x="144" y="144"/>
                      <a:pt x="288" y="288"/>
                      <a:pt x="288" y="432"/>
                    </a:cubicBezTo>
                    <a:cubicBezTo>
                      <a:pt x="288" y="576"/>
                      <a:pt x="48" y="792"/>
                      <a:pt x="0" y="864"/>
                    </a:cubicBezTo>
                  </a:path>
                </a:pathLst>
              </a:custGeom>
              <a:noFill/>
              <a:ln cap="flat" cmpd="sng" w="158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559" name="Google Shape;559;p26"/>
              <p:cNvCxnSpPr/>
              <p:nvPr/>
            </p:nvCxnSpPr>
            <p:spPr>
              <a:xfrm>
                <a:off x="2326" y="2352"/>
                <a:ext cx="170" cy="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60" name="Google Shape;560;p26"/>
              <p:cNvCxnSpPr/>
              <p:nvPr/>
            </p:nvCxnSpPr>
            <p:spPr>
              <a:xfrm>
                <a:off x="2326" y="2722"/>
                <a:ext cx="170" cy="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561" name="Google Shape;561;p26"/>
              <p:cNvSpPr/>
              <p:nvPr/>
            </p:nvSpPr>
            <p:spPr>
              <a:xfrm>
                <a:off x="2496" y="2352"/>
                <a:ext cx="306" cy="202"/>
              </a:xfrm>
              <a:custGeom>
                <a:rect b="b" l="l" r="r" t="t"/>
                <a:pathLst>
                  <a:path extrusionOk="0" h="432" w="576">
                    <a:moveTo>
                      <a:pt x="0" y="0"/>
                    </a:moveTo>
                    <a:cubicBezTo>
                      <a:pt x="168" y="36"/>
                      <a:pt x="336" y="72"/>
                      <a:pt x="432" y="144"/>
                    </a:cubicBezTo>
                    <a:cubicBezTo>
                      <a:pt x="528" y="216"/>
                      <a:pt x="552" y="324"/>
                      <a:pt x="576" y="432"/>
                    </a:cubicBezTo>
                  </a:path>
                </a:pathLst>
              </a:custGeom>
              <a:noFill/>
              <a:ln cap="flat" cmpd="sng" w="158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62" name="Google Shape;562;p26"/>
              <p:cNvSpPr/>
              <p:nvPr/>
            </p:nvSpPr>
            <p:spPr>
              <a:xfrm flipH="1" rot="10800000">
                <a:off x="2496" y="2520"/>
                <a:ext cx="306" cy="202"/>
              </a:xfrm>
              <a:custGeom>
                <a:rect b="b" l="l" r="r" t="t"/>
                <a:pathLst>
                  <a:path extrusionOk="0" h="432" w="576">
                    <a:moveTo>
                      <a:pt x="0" y="0"/>
                    </a:moveTo>
                    <a:cubicBezTo>
                      <a:pt x="168" y="36"/>
                      <a:pt x="336" y="72"/>
                      <a:pt x="432" y="144"/>
                    </a:cubicBezTo>
                    <a:cubicBezTo>
                      <a:pt x="528" y="216"/>
                      <a:pt x="552" y="324"/>
                      <a:pt x="576" y="432"/>
                    </a:cubicBezTo>
                  </a:path>
                </a:pathLst>
              </a:custGeom>
              <a:noFill/>
              <a:ln cap="flat" cmpd="sng" w="158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63" name="Google Shape;563;p26"/>
              <p:cNvSpPr/>
              <p:nvPr/>
            </p:nvSpPr>
            <p:spPr>
              <a:xfrm>
                <a:off x="2279" y="2352"/>
                <a:ext cx="68" cy="370"/>
              </a:xfrm>
              <a:custGeom>
                <a:rect b="b" l="l" r="r" t="t"/>
                <a:pathLst>
                  <a:path extrusionOk="0" h="864" w="288">
                    <a:moveTo>
                      <a:pt x="0" y="0"/>
                    </a:moveTo>
                    <a:cubicBezTo>
                      <a:pt x="144" y="144"/>
                      <a:pt x="288" y="288"/>
                      <a:pt x="288" y="432"/>
                    </a:cubicBezTo>
                    <a:cubicBezTo>
                      <a:pt x="288" y="576"/>
                      <a:pt x="48" y="792"/>
                      <a:pt x="0" y="864"/>
                    </a:cubicBezTo>
                  </a:path>
                </a:pathLst>
              </a:custGeom>
              <a:noFill/>
              <a:ln cap="flat" cmpd="sng" w="158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64" name="Google Shape;564;p26"/>
            <p:cNvGrpSpPr/>
            <p:nvPr/>
          </p:nvGrpSpPr>
          <p:grpSpPr>
            <a:xfrm rot="5400000">
              <a:off x="3004" y="1684"/>
              <a:ext cx="240" cy="135"/>
              <a:chOff x="2279" y="2352"/>
              <a:chExt cx="523" cy="370"/>
            </a:xfrm>
          </p:grpSpPr>
          <p:sp>
            <p:nvSpPr>
              <p:cNvPr id="565" name="Google Shape;565;p26"/>
              <p:cNvSpPr/>
              <p:nvPr/>
            </p:nvSpPr>
            <p:spPr>
              <a:xfrm>
                <a:off x="2326" y="2352"/>
                <a:ext cx="68" cy="370"/>
              </a:xfrm>
              <a:custGeom>
                <a:rect b="b" l="l" r="r" t="t"/>
                <a:pathLst>
                  <a:path extrusionOk="0" h="864" w="288">
                    <a:moveTo>
                      <a:pt x="0" y="0"/>
                    </a:moveTo>
                    <a:cubicBezTo>
                      <a:pt x="144" y="144"/>
                      <a:pt x="288" y="288"/>
                      <a:pt x="288" y="432"/>
                    </a:cubicBezTo>
                    <a:cubicBezTo>
                      <a:pt x="288" y="576"/>
                      <a:pt x="48" y="792"/>
                      <a:pt x="0" y="864"/>
                    </a:cubicBezTo>
                  </a:path>
                </a:pathLst>
              </a:custGeom>
              <a:noFill/>
              <a:ln cap="flat" cmpd="sng" w="158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566" name="Google Shape;566;p26"/>
              <p:cNvCxnSpPr/>
              <p:nvPr/>
            </p:nvCxnSpPr>
            <p:spPr>
              <a:xfrm>
                <a:off x="2326" y="2352"/>
                <a:ext cx="170" cy="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67" name="Google Shape;567;p26"/>
              <p:cNvCxnSpPr/>
              <p:nvPr/>
            </p:nvCxnSpPr>
            <p:spPr>
              <a:xfrm>
                <a:off x="2326" y="2722"/>
                <a:ext cx="170" cy="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568" name="Google Shape;568;p26"/>
              <p:cNvSpPr/>
              <p:nvPr/>
            </p:nvSpPr>
            <p:spPr>
              <a:xfrm>
                <a:off x="2496" y="2352"/>
                <a:ext cx="306" cy="202"/>
              </a:xfrm>
              <a:custGeom>
                <a:rect b="b" l="l" r="r" t="t"/>
                <a:pathLst>
                  <a:path extrusionOk="0" h="432" w="576">
                    <a:moveTo>
                      <a:pt x="0" y="0"/>
                    </a:moveTo>
                    <a:cubicBezTo>
                      <a:pt x="168" y="36"/>
                      <a:pt x="336" y="72"/>
                      <a:pt x="432" y="144"/>
                    </a:cubicBezTo>
                    <a:cubicBezTo>
                      <a:pt x="528" y="216"/>
                      <a:pt x="552" y="324"/>
                      <a:pt x="576" y="432"/>
                    </a:cubicBezTo>
                  </a:path>
                </a:pathLst>
              </a:custGeom>
              <a:noFill/>
              <a:ln cap="flat" cmpd="sng" w="158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69" name="Google Shape;569;p26"/>
              <p:cNvSpPr/>
              <p:nvPr/>
            </p:nvSpPr>
            <p:spPr>
              <a:xfrm flipH="1" rot="10800000">
                <a:off x="2496" y="2520"/>
                <a:ext cx="306" cy="202"/>
              </a:xfrm>
              <a:custGeom>
                <a:rect b="b" l="l" r="r" t="t"/>
                <a:pathLst>
                  <a:path extrusionOk="0" h="432" w="576">
                    <a:moveTo>
                      <a:pt x="0" y="0"/>
                    </a:moveTo>
                    <a:cubicBezTo>
                      <a:pt x="168" y="36"/>
                      <a:pt x="336" y="72"/>
                      <a:pt x="432" y="144"/>
                    </a:cubicBezTo>
                    <a:cubicBezTo>
                      <a:pt x="528" y="216"/>
                      <a:pt x="552" y="324"/>
                      <a:pt x="576" y="432"/>
                    </a:cubicBezTo>
                  </a:path>
                </a:pathLst>
              </a:custGeom>
              <a:noFill/>
              <a:ln cap="flat" cmpd="sng" w="158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70" name="Google Shape;570;p26"/>
              <p:cNvSpPr/>
              <p:nvPr/>
            </p:nvSpPr>
            <p:spPr>
              <a:xfrm>
                <a:off x="2279" y="2352"/>
                <a:ext cx="68" cy="370"/>
              </a:xfrm>
              <a:custGeom>
                <a:rect b="b" l="l" r="r" t="t"/>
                <a:pathLst>
                  <a:path extrusionOk="0" h="864" w="288">
                    <a:moveTo>
                      <a:pt x="0" y="0"/>
                    </a:moveTo>
                    <a:cubicBezTo>
                      <a:pt x="144" y="144"/>
                      <a:pt x="288" y="288"/>
                      <a:pt x="288" y="432"/>
                    </a:cubicBezTo>
                    <a:cubicBezTo>
                      <a:pt x="288" y="576"/>
                      <a:pt x="48" y="792"/>
                      <a:pt x="0" y="864"/>
                    </a:cubicBezTo>
                  </a:path>
                </a:pathLst>
              </a:custGeom>
              <a:noFill/>
              <a:ln cap="flat" cmpd="sng" w="158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571" name="Google Shape;571;p26"/>
            <p:cNvCxnSpPr/>
            <p:nvPr/>
          </p:nvCxnSpPr>
          <p:spPr>
            <a:xfrm>
              <a:off x="2496" y="1392"/>
              <a:ext cx="0" cy="288"/>
            </a:xfrm>
            <a:prstGeom prst="straightConnector1">
              <a:avLst/>
            </a:prstGeom>
            <a:noFill/>
            <a:ln cap="flat" cmpd="sng" w="15875">
              <a:solidFill>
                <a:srgbClr val="0000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2" name="Google Shape;572;p26"/>
            <p:cNvCxnSpPr/>
            <p:nvPr/>
          </p:nvCxnSpPr>
          <p:spPr>
            <a:xfrm>
              <a:off x="2688" y="1392"/>
              <a:ext cx="0" cy="288"/>
            </a:xfrm>
            <a:prstGeom prst="straightConnector1">
              <a:avLst/>
            </a:prstGeom>
            <a:noFill/>
            <a:ln cap="flat" cmpd="sng" w="15875">
              <a:solidFill>
                <a:srgbClr val="0000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3" name="Google Shape;573;p26"/>
            <p:cNvCxnSpPr/>
            <p:nvPr/>
          </p:nvCxnSpPr>
          <p:spPr>
            <a:xfrm>
              <a:off x="2880" y="1392"/>
              <a:ext cx="0" cy="288"/>
            </a:xfrm>
            <a:prstGeom prst="straightConnector1">
              <a:avLst/>
            </a:prstGeom>
            <a:noFill/>
            <a:ln cap="flat" cmpd="sng" w="15875">
              <a:solidFill>
                <a:srgbClr val="0000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4" name="Google Shape;574;p26"/>
            <p:cNvCxnSpPr/>
            <p:nvPr/>
          </p:nvCxnSpPr>
          <p:spPr>
            <a:xfrm>
              <a:off x="3072" y="1392"/>
              <a:ext cx="0" cy="288"/>
            </a:xfrm>
            <a:prstGeom prst="straightConnector1">
              <a:avLst/>
            </a:prstGeom>
            <a:noFill/>
            <a:ln cap="flat" cmpd="sng" w="15875">
              <a:solidFill>
                <a:srgbClr val="0000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5" name="Google Shape;575;p26"/>
            <p:cNvCxnSpPr/>
            <p:nvPr/>
          </p:nvCxnSpPr>
          <p:spPr>
            <a:xfrm>
              <a:off x="2592" y="1536"/>
              <a:ext cx="0" cy="144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6" name="Google Shape;576;p26"/>
            <p:cNvCxnSpPr/>
            <p:nvPr/>
          </p:nvCxnSpPr>
          <p:spPr>
            <a:xfrm>
              <a:off x="2784" y="1536"/>
              <a:ext cx="0" cy="144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7" name="Google Shape;577;p26"/>
            <p:cNvCxnSpPr/>
            <p:nvPr/>
          </p:nvCxnSpPr>
          <p:spPr>
            <a:xfrm>
              <a:off x="2976" y="1536"/>
              <a:ext cx="0" cy="144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8" name="Google Shape;578;p26"/>
            <p:cNvCxnSpPr/>
            <p:nvPr/>
          </p:nvCxnSpPr>
          <p:spPr>
            <a:xfrm>
              <a:off x="3168" y="1536"/>
              <a:ext cx="0" cy="144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9" name="Google Shape;579;p26"/>
            <p:cNvCxnSpPr/>
            <p:nvPr/>
          </p:nvCxnSpPr>
          <p:spPr>
            <a:xfrm>
              <a:off x="2592" y="1536"/>
              <a:ext cx="100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80" name="Google Shape;580;p26"/>
            <p:cNvSpPr/>
            <p:nvPr/>
          </p:nvSpPr>
          <p:spPr>
            <a:xfrm>
              <a:off x="2564" y="1516"/>
              <a:ext cx="48" cy="48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1" name="Google Shape;581;p26"/>
            <p:cNvSpPr/>
            <p:nvPr/>
          </p:nvSpPr>
          <p:spPr>
            <a:xfrm>
              <a:off x="2760" y="1512"/>
              <a:ext cx="48" cy="48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2" name="Google Shape;582;p26"/>
            <p:cNvSpPr/>
            <p:nvPr/>
          </p:nvSpPr>
          <p:spPr>
            <a:xfrm>
              <a:off x="2948" y="1516"/>
              <a:ext cx="48" cy="48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3" name="Google Shape;583;p26"/>
            <p:cNvSpPr/>
            <p:nvPr/>
          </p:nvSpPr>
          <p:spPr>
            <a:xfrm>
              <a:off x="3428" y="1516"/>
              <a:ext cx="48" cy="48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4" name="Google Shape;584;p26"/>
            <p:cNvSpPr/>
            <p:nvPr/>
          </p:nvSpPr>
          <p:spPr>
            <a:xfrm>
              <a:off x="3144" y="1512"/>
              <a:ext cx="48" cy="48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585" name="Google Shape;585;p26"/>
            <p:cNvCxnSpPr/>
            <p:nvPr/>
          </p:nvCxnSpPr>
          <p:spPr>
            <a:xfrm>
              <a:off x="3456" y="1536"/>
              <a:ext cx="0" cy="864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6" name="Google Shape;586;p26"/>
            <p:cNvCxnSpPr/>
            <p:nvPr/>
          </p:nvCxnSpPr>
          <p:spPr>
            <a:xfrm>
              <a:off x="3312" y="2400"/>
              <a:ext cx="144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87" name="Google Shape;587;p26"/>
            <p:cNvSpPr txBox="1"/>
            <p:nvPr/>
          </p:nvSpPr>
          <p:spPr>
            <a:xfrm>
              <a:off x="3552" y="1440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26"/>
            <p:cNvSpPr txBox="1"/>
            <p:nvPr/>
          </p:nvSpPr>
          <p:spPr>
            <a:xfrm>
              <a:off x="2979" y="2277"/>
              <a:ext cx="336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Cin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26"/>
            <p:cNvSpPr txBox="1"/>
            <p:nvPr/>
          </p:nvSpPr>
          <p:spPr>
            <a:xfrm>
              <a:off x="1269" y="2287"/>
              <a:ext cx="432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Cout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0" name="Google Shape;590;p26"/>
          <p:cNvSpPr txBox="1"/>
          <p:nvPr/>
        </p:nvSpPr>
        <p:spPr>
          <a:xfrm>
            <a:off x="1524000" y="5334000"/>
            <a:ext cx="3429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4-bit adder cum subtractor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30"/>
          <p:cNvSpPr txBox="1"/>
          <p:nvPr>
            <p:ph type="title"/>
          </p:nvPr>
        </p:nvSpPr>
        <p:spPr>
          <a:xfrm>
            <a:off x="12192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16-bit Parallel Adder</a:t>
            </a:r>
            <a:endParaRPr/>
          </a:p>
        </p:txBody>
      </p:sp>
      <p:sp>
        <p:nvSpPr>
          <p:cNvPr id="596" name="Google Shape;596;p30"/>
          <p:cNvSpPr txBox="1"/>
          <p:nvPr>
            <p:ph idx="1" type="body"/>
          </p:nvPr>
        </p:nvSpPr>
        <p:spPr>
          <a:xfrm>
            <a:off x="1143000" y="1447800"/>
            <a:ext cx="77724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Larger parallel adders can be built from smaller ones.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a </a:t>
            </a:r>
            <a:r>
              <a:rPr b="0" i="0" lang="en-US" sz="24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16-bit parallel adder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can be constructed from four 4-bit parallel adders:</a:t>
            </a:r>
            <a:endParaRPr/>
          </a:p>
        </p:txBody>
      </p:sp>
      <p:grpSp>
        <p:nvGrpSpPr>
          <p:cNvPr id="597" name="Google Shape;597;p30"/>
          <p:cNvGrpSpPr/>
          <p:nvPr/>
        </p:nvGrpSpPr>
        <p:grpSpPr>
          <a:xfrm>
            <a:off x="1676400" y="2895600"/>
            <a:ext cx="7034212" cy="2089150"/>
            <a:chOff x="897" y="2448"/>
            <a:chExt cx="4431" cy="1316"/>
          </a:xfrm>
        </p:grpSpPr>
        <p:sp>
          <p:nvSpPr>
            <p:cNvPr id="598" name="Google Shape;598;p30"/>
            <p:cNvSpPr txBox="1"/>
            <p:nvPr/>
          </p:nvSpPr>
          <p:spPr>
            <a:xfrm>
              <a:off x="2976" y="2640"/>
              <a:ext cx="576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99" name="Google Shape;599;p30"/>
            <p:cNvSpPr txBox="1"/>
            <p:nvPr/>
          </p:nvSpPr>
          <p:spPr>
            <a:xfrm>
              <a:off x="4272" y="2928"/>
              <a:ext cx="672" cy="384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0" name="Google Shape;600;p30"/>
            <p:cNvSpPr txBox="1"/>
            <p:nvPr/>
          </p:nvSpPr>
          <p:spPr>
            <a:xfrm>
              <a:off x="4272" y="2928"/>
              <a:ext cx="672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4-bit // adder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30"/>
            <p:cNvSpPr txBox="1"/>
            <p:nvPr/>
          </p:nvSpPr>
          <p:spPr>
            <a:xfrm>
              <a:off x="4128" y="2448"/>
              <a:ext cx="48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..X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30"/>
            <p:cNvSpPr txBox="1"/>
            <p:nvPr/>
          </p:nvSpPr>
          <p:spPr>
            <a:xfrm>
              <a:off x="4608" y="2448"/>
              <a:ext cx="48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..Y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03" name="Google Shape;603;p30"/>
            <p:cNvGrpSpPr/>
            <p:nvPr/>
          </p:nvGrpSpPr>
          <p:grpSpPr>
            <a:xfrm>
              <a:off x="4320" y="2640"/>
              <a:ext cx="144" cy="288"/>
              <a:chOff x="4333" y="2640"/>
              <a:chExt cx="144" cy="288"/>
            </a:xfrm>
          </p:grpSpPr>
          <p:cxnSp>
            <p:nvCxnSpPr>
              <p:cNvPr id="604" name="Google Shape;604;p30"/>
              <p:cNvCxnSpPr/>
              <p:nvPr/>
            </p:nvCxnSpPr>
            <p:spPr>
              <a:xfrm>
                <a:off x="4416" y="2640"/>
                <a:ext cx="0" cy="288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605" name="Google Shape;605;p30"/>
              <p:cNvCxnSpPr/>
              <p:nvPr/>
            </p:nvCxnSpPr>
            <p:spPr>
              <a:xfrm flipH="1">
                <a:off x="4333" y="2708"/>
                <a:ext cx="144" cy="96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606" name="Google Shape;606;p30"/>
            <p:cNvGrpSpPr/>
            <p:nvPr/>
          </p:nvGrpSpPr>
          <p:grpSpPr>
            <a:xfrm>
              <a:off x="4752" y="2640"/>
              <a:ext cx="144" cy="288"/>
              <a:chOff x="4333" y="2640"/>
              <a:chExt cx="144" cy="288"/>
            </a:xfrm>
          </p:grpSpPr>
          <p:cxnSp>
            <p:nvCxnSpPr>
              <p:cNvPr id="607" name="Google Shape;607;p30"/>
              <p:cNvCxnSpPr/>
              <p:nvPr/>
            </p:nvCxnSpPr>
            <p:spPr>
              <a:xfrm>
                <a:off x="4416" y="2640"/>
                <a:ext cx="0" cy="288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608" name="Google Shape;608;p30"/>
              <p:cNvCxnSpPr/>
              <p:nvPr/>
            </p:nvCxnSpPr>
            <p:spPr>
              <a:xfrm flipH="1">
                <a:off x="4333" y="2708"/>
                <a:ext cx="144" cy="96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609" name="Google Shape;609;p30"/>
            <p:cNvGrpSpPr/>
            <p:nvPr/>
          </p:nvGrpSpPr>
          <p:grpSpPr>
            <a:xfrm>
              <a:off x="4512" y="3312"/>
              <a:ext cx="144" cy="288"/>
              <a:chOff x="4333" y="2640"/>
              <a:chExt cx="144" cy="288"/>
            </a:xfrm>
          </p:grpSpPr>
          <p:cxnSp>
            <p:nvCxnSpPr>
              <p:cNvPr id="610" name="Google Shape;610;p30"/>
              <p:cNvCxnSpPr/>
              <p:nvPr/>
            </p:nvCxnSpPr>
            <p:spPr>
              <a:xfrm>
                <a:off x="4416" y="2640"/>
                <a:ext cx="0" cy="288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611" name="Google Shape;611;p30"/>
              <p:cNvCxnSpPr/>
              <p:nvPr/>
            </p:nvCxnSpPr>
            <p:spPr>
              <a:xfrm flipH="1">
                <a:off x="4333" y="2708"/>
                <a:ext cx="144" cy="96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612" name="Google Shape;612;p30"/>
            <p:cNvCxnSpPr/>
            <p:nvPr/>
          </p:nvCxnSpPr>
          <p:spPr>
            <a:xfrm rot="10800000">
              <a:off x="4944" y="3120"/>
              <a:ext cx="336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613" name="Google Shape;613;p30"/>
            <p:cNvSpPr txBox="1"/>
            <p:nvPr/>
          </p:nvSpPr>
          <p:spPr>
            <a:xfrm>
              <a:off x="4992" y="2895"/>
              <a:ext cx="336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30"/>
            <p:cNvSpPr txBox="1"/>
            <p:nvPr/>
          </p:nvSpPr>
          <p:spPr>
            <a:xfrm>
              <a:off x="4368" y="3552"/>
              <a:ext cx="48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..S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30"/>
            <p:cNvSpPr txBox="1"/>
            <p:nvPr/>
          </p:nvSpPr>
          <p:spPr>
            <a:xfrm>
              <a:off x="3264" y="2928"/>
              <a:ext cx="672" cy="384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6" name="Google Shape;616;p30"/>
            <p:cNvSpPr txBox="1"/>
            <p:nvPr/>
          </p:nvSpPr>
          <p:spPr>
            <a:xfrm>
              <a:off x="3264" y="2928"/>
              <a:ext cx="672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4-bit // adder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30"/>
            <p:cNvSpPr txBox="1"/>
            <p:nvPr/>
          </p:nvSpPr>
          <p:spPr>
            <a:xfrm>
              <a:off x="3120" y="2448"/>
              <a:ext cx="48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..X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30"/>
            <p:cNvSpPr txBox="1"/>
            <p:nvPr/>
          </p:nvSpPr>
          <p:spPr>
            <a:xfrm>
              <a:off x="3600" y="2448"/>
              <a:ext cx="48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..Y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19" name="Google Shape;619;p30"/>
            <p:cNvGrpSpPr/>
            <p:nvPr/>
          </p:nvGrpSpPr>
          <p:grpSpPr>
            <a:xfrm>
              <a:off x="3312" y="2640"/>
              <a:ext cx="144" cy="288"/>
              <a:chOff x="4333" y="2640"/>
              <a:chExt cx="144" cy="288"/>
            </a:xfrm>
          </p:grpSpPr>
          <p:cxnSp>
            <p:nvCxnSpPr>
              <p:cNvPr id="620" name="Google Shape;620;p30"/>
              <p:cNvCxnSpPr/>
              <p:nvPr/>
            </p:nvCxnSpPr>
            <p:spPr>
              <a:xfrm>
                <a:off x="4416" y="2640"/>
                <a:ext cx="0" cy="288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621" name="Google Shape;621;p30"/>
              <p:cNvCxnSpPr/>
              <p:nvPr/>
            </p:nvCxnSpPr>
            <p:spPr>
              <a:xfrm flipH="1">
                <a:off x="4333" y="2708"/>
                <a:ext cx="144" cy="96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622" name="Google Shape;622;p30"/>
            <p:cNvGrpSpPr/>
            <p:nvPr/>
          </p:nvGrpSpPr>
          <p:grpSpPr>
            <a:xfrm>
              <a:off x="3744" y="2640"/>
              <a:ext cx="144" cy="288"/>
              <a:chOff x="4333" y="2640"/>
              <a:chExt cx="144" cy="288"/>
            </a:xfrm>
          </p:grpSpPr>
          <p:cxnSp>
            <p:nvCxnSpPr>
              <p:cNvPr id="623" name="Google Shape;623;p30"/>
              <p:cNvCxnSpPr/>
              <p:nvPr/>
            </p:nvCxnSpPr>
            <p:spPr>
              <a:xfrm>
                <a:off x="4416" y="2640"/>
                <a:ext cx="0" cy="288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624" name="Google Shape;624;p30"/>
              <p:cNvCxnSpPr/>
              <p:nvPr/>
            </p:nvCxnSpPr>
            <p:spPr>
              <a:xfrm flipH="1">
                <a:off x="4333" y="2708"/>
                <a:ext cx="144" cy="96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625" name="Google Shape;625;p30"/>
            <p:cNvGrpSpPr/>
            <p:nvPr/>
          </p:nvGrpSpPr>
          <p:grpSpPr>
            <a:xfrm>
              <a:off x="3504" y="3312"/>
              <a:ext cx="144" cy="288"/>
              <a:chOff x="4333" y="2640"/>
              <a:chExt cx="144" cy="288"/>
            </a:xfrm>
          </p:grpSpPr>
          <p:cxnSp>
            <p:nvCxnSpPr>
              <p:cNvPr id="626" name="Google Shape;626;p30"/>
              <p:cNvCxnSpPr/>
              <p:nvPr/>
            </p:nvCxnSpPr>
            <p:spPr>
              <a:xfrm>
                <a:off x="4416" y="2640"/>
                <a:ext cx="0" cy="288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627" name="Google Shape;627;p30"/>
              <p:cNvCxnSpPr/>
              <p:nvPr/>
            </p:nvCxnSpPr>
            <p:spPr>
              <a:xfrm flipH="1">
                <a:off x="4333" y="2708"/>
                <a:ext cx="144" cy="96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628" name="Google Shape;628;p30"/>
            <p:cNvCxnSpPr/>
            <p:nvPr/>
          </p:nvCxnSpPr>
          <p:spPr>
            <a:xfrm rot="10800000">
              <a:off x="3936" y="3120"/>
              <a:ext cx="336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629" name="Google Shape;629;p30"/>
            <p:cNvSpPr txBox="1"/>
            <p:nvPr/>
          </p:nvSpPr>
          <p:spPr>
            <a:xfrm>
              <a:off x="3964" y="2895"/>
              <a:ext cx="336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30"/>
            <p:cNvSpPr txBox="1"/>
            <p:nvPr/>
          </p:nvSpPr>
          <p:spPr>
            <a:xfrm>
              <a:off x="3360" y="3552"/>
              <a:ext cx="48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..S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31" name="Google Shape;631;p30"/>
            <p:cNvGrpSpPr/>
            <p:nvPr/>
          </p:nvGrpSpPr>
          <p:grpSpPr>
            <a:xfrm>
              <a:off x="3312" y="2640"/>
              <a:ext cx="144" cy="288"/>
              <a:chOff x="4333" y="2640"/>
              <a:chExt cx="144" cy="288"/>
            </a:xfrm>
          </p:grpSpPr>
          <p:cxnSp>
            <p:nvCxnSpPr>
              <p:cNvPr id="632" name="Google Shape;632;p30"/>
              <p:cNvCxnSpPr/>
              <p:nvPr/>
            </p:nvCxnSpPr>
            <p:spPr>
              <a:xfrm>
                <a:off x="4416" y="2640"/>
                <a:ext cx="0" cy="288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633" name="Google Shape;633;p30"/>
              <p:cNvCxnSpPr/>
              <p:nvPr/>
            </p:nvCxnSpPr>
            <p:spPr>
              <a:xfrm flipH="1">
                <a:off x="4333" y="2708"/>
                <a:ext cx="144" cy="96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634" name="Google Shape;634;p30"/>
            <p:cNvSpPr txBox="1"/>
            <p:nvPr/>
          </p:nvSpPr>
          <p:spPr>
            <a:xfrm>
              <a:off x="2256" y="2928"/>
              <a:ext cx="672" cy="384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5" name="Google Shape;635;p30"/>
            <p:cNvSpPr txBox="1"/>
            <p:nvPr/>
          </p:nvSpPr>
          <p:spPr>
            <a:xfrm>
              <a:off x="2256" y="2928"/>
              <a:ext cx="672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4-bit // adder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30"/>
            <p:cNvSpPr txBox="1"/>
            <p:nvPr/>
          </p:nvSpPr>
          <p:spPr>
            <a:xfrm>
              <a:off x="2112" y="2448"/>
              <a:ext cx="528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..X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30"/>
            <p:cNvSpPr txBox="1"/>
            <p:nvPr/>
          </p:nvSpPr>
          <p:spPr>
            <a:xfrm>
              <a:off x="2544" y="2448"/>
              <a:ext cx="528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..Y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38" name="Google Shape;638;p30"/>
            <p:cNvGrpSpPr/>
            <p:nvPr/>
          </p:nvGrpSpPr>
          <p:grpSpPr>
            <a:xfrm>
              <a:off x="2304" y="2640"/>
              <a:ext cx="144" cy="288"/>
              <a:chOff x="4333" y="2640"/>
              <a:chExt cx="144" cy="288"/>
            </a:xfrm>
          </p:grpSpPr>
          <p:cxnSp>
            <p:nvCxnSpPr>
              <p:cNvPr id="639" name="Google Shape;639;p30"/>
              <p:cNvCxnSpPr/>
              <p:nvPr/>
            </p:nvCxnSpPr>
            <p:spPr>
              <a:xfrm>
                <a:off x="4416" y="2640"/>
                <a:ext cx="0" cy="288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640" name="Google Shape;640;p30"/>
              <p:cNvCxnSpPr/>
              <p:nvPr/>
            </p:nvCxnSpPr>
            <p:spPr>
              <a:xfrm flipH="1">
                <a:off x="4333" y="2708"/>
                <a:ext cx="144" cy="96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641" name="Google Shape;641;p30"/>
            <p:cNvGrpSpPr/>
            <p:nvPr/>
          </p:nvGrpSpPr>
          <p:grpSpPr>
            <a:xfrm>
              <a:off x="2736" y="2640"/>
              <a:ext cx="144" cy="288"/>
              <a:chOff x="4333" y="2640"/>
              <a:chExt cx="144" cy="288"/>
            </a:xfrm>
          </p:grpSpPr>
          <p:cxnSp>
            <p:nvCxnSpPr>
              <p:cNvPr id="642" name="Google Shape;642;p30"/>
              <p:cNvCxnSpPr/>
              <p:nvPr/>
            </p:nvCxnSpPr>
            <p:spPr>
              <a:xfrm>
                <a:off x="4416" y="2640"/>
                <a:ext cx="0" cy="288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643" name="Google Shape;643;p30"/>
              <p:cNvCxnSpPr/>
              <p:nvPr/>
            </p:nvCxnSpPr>
            <p:spPr>
              <a:xfrm flipH="1">
                <a:off x="4333" y="2708"/>
                <a:ext cx="144" cy="96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644" name="Google Shape;644;p30"/>
            <p:cNvGrpSpPr/>
            <p:nvPr/>
          </p:nvGrpSpPr>
          <p:grpSpPr>
            <a:xfrm>
              <a:off x="2496" y="3312"/>
              <a:ext cx="144" cy="288"/>
              <a:chOff x="4333" y="2640"/>
              <a:chExt cx="144" cy="288"/>
            </a:xfrm>
          </p:grpSpPr>
          <p:cxnSp>
            <p:nvCxnSpPr>
              <p:cNvPr id="645" name="Google Shape;645;p30"/>
              <p:cNvCxnSpPr/>
              <p:nvPr/>
            </p:nvCxnSpPr>
            <p:spPr>
              <a:xfrm>
                <a:off x="4416" y="2640"/>
                <a:ext cx="0" cy="288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646" name="Google Shape;646;p30"/>
              <p:cNvCxnSpPr/>
              <p:nvPr/>
            </p:nvCxnSpPr>
            <p:spPr>
              <a:xfrm flipH="1">
                <a:off x="4333" y="2708"/>
                <a:ext cx="144" cy="96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647" name="Google Shape;647;p30"/>
            <p:cNvCxnSpPr/>
            <p:nvPr/>
          </p:nvCxnSpPr>
          <p:spPr>
            <a:xfrm rot="10800000">
              <a:off x="2928" y="3120"/>
              <a:ext cx="336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648" name="Google Shape;648;p30"/>
            <p:cNvSpPr txBox="1"/>
            <p:nvPr/>
          </p:nvSpPr>
          <p:spPr>
            <a:xfrm>
              <a:off x="2956" y="2895"/>
              <a:ext cx="336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30"/>
            <p:cNvSpPr txBox="1"/>
            <p:nvPr/>
          </p:nvSpPr>
          <p:spPr>
            <a:xfrm>
              <a:off x="2352" y="3552"/>
              <a:ext cx="528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..S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50" name="Google Shape;650;p30"/>
            <p:cNvGrpSpPr/>
            <p:nvPr/>
          </p:nvGrpSpPr>
          <p:grpSpPr>
            <a:xfrm>
              <a:off x="2304" y="2640"/>
              <a:ext cx="144" cy="288"/>
              <a:chOff x="4333" y="2640"/>
              <a:chExt cx="144" cy="288"/>
            </a:xfrm>
          </p:grpSpPr>
          <p:cxnSp>
            <p:nvCxnSpPr>
              <p:cNvPr id="651" name="Google Shape;651;p30"/>
              <p:cNvCxnSpPr/>
              <p:nvPr/>
            </p:nvCxnSpPr>
            <p:spPr>
              <a:xfrm>
                <a:off x="4416" y="2640"/>
                <a:ext cx="0" cy="288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652" name="Google Shape;652;p30"/>
              <p:cNvCxnSpPr/>
              <p:nvPr/>
            </p:nvCxnSpPr>
            <p:spPr>
              <a:xfrm flipH="1">
                <a:off x="4333" y="2708"/>
                <a:ext cx="144" cy="96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653" name="Google Shape;653;p30"/>
            <p:cNvGrpSpPr/>
            <p:nvPr/>
          </p:nvGrpSpPr>
          <p:grpSpPr>
            <a:xfrm>
              <a:off x="2304" y="2640"/>
              <a:ext cx="144" cy="288"/>
              <a:chOff x="4333" y="2640"/>
              <a:chExt cx="144" cy="288"/>
            </a:xfrm>
          </p:grpSpPr>
          <p:cxnSp>
            <p:nvCxnSpPr>
              <p:cNvPr id="654" name="Google Shape;654;p30"/>
              <p:cNvCxnSpPr/>
              <p:nvPr/>
            </p:nvCxnSpPr>
            <p:spPr>
              <a:xfrm>
                <a:off x="4416" y="2640"/>
                <a:ext cx="0" cy="288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655" name="Google Shape;655;p30"/>
              <p:cNvCxnSpPr/>
              <p:nvPr/>
            </p:nvCxnSpPr>
            <p:spPr>
              <a:xfrm flipH="1">
                <a:off x="4333" y="2708"/>
                <a:ext cx="144" cy="96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656" name="Google Shape;656;p30"/>
            <p:cNvSpPr txBox="1"/>
            <p:nvPr/>
          </p:nvSpPr>
          <p:spPr>
            <a:xfrm>
              <a:off x="1248" y="2928"/>
              <a:ext cx="672" cy="384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7" name="Google Shape;657;p30"/>
            <p:cNvSpPr txBox="1"/>
            <p:nvPr/>
          </p:nvSpPr>
          <p:spPr>
            <a:xfrm>
              <a:off x="1248" y="2928"/>
              <a:ext cx="672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4-bit // adder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30"/>
            <p:cNvSpPr txBox="1"/>
            <p:nvPr/>
          </p:nvSpPr>
          <p:spPr>
            <a:xfrm>
              <a:off x="1056" y="2448"/>
              <a:ext cx="576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..X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30"/>
            <p:cNvSpPr txBox="1"/>
            <p:nvPr/>
          </p:nvSpPr>
          <p:spPr>
            <a:xfrm>
              <a:off x="1536" y="2448"/>
              <a:ext cx="576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..Y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60" name="Google Shape;660;p30"/>
            <p:cNvGrpSpPr/>
            <p:nvPr/>
          </p:nvGrpSpPr>
          <p:grpSpPr>
            <a:xfrm>
              <a:off x="1296" y="2640"/>
              <a:ext cx="144" cy="288"/>
              <a:chOff x="4333" y="2640"/>
              <a:chExt cx="144" cy="288"/>
            </a:xfrm>
          </p:grpSpPr>
          <p:cxnSp>
            <p:nvCxnSpPr>
              <p:cNvPr id="661" name="Google Shape;661;p30"/>
              <p:cNvCxnSpPr/>
              <p:nvPr/>
            </p:nvCxnSpPr>
            <p:spPr>
              <a:xfrm>
                <a:off x="4416" y="2640"/>
                <a:ext cx="0" cy="288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662" name="Google Shape;662;p30"/>
              <p:cNvCxnSpPr/>
              <p:nvPr/>
            </p:nvCxnSpPr>
            <p:spPr>
              <a:xfrm flipH="1">
                <a:off x="4333" y="2708"/>
                <a:ext cx="144" cy="96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663" name="Google Shape;663;p30"/>
            <p:cNvGrpSpPr/>
            <p:nvPr/>
          </p:nvGrpSpPr>
          <p:grpSpPr>
            <a:xfrm>
              <a:off x="1728" y="2640"/>
              <a:ext cx="144" cy="288"/>
              <a:chOff x="4333" y="2640"/>
              <a:chExt cx="144" cy="288"/>
            </a:xfrm>
          </p:grpSpPr>
          <p:cxnSp>
            <p:nvCxnSpPr>
              <p:cNvPr id="664" name="Google Shape;664;p30"/>
              <p:cNvCxnSpPr/>
              <p:nvPr/>
            </p:nvCxnSpPr>
            <p:spPr>
              <a:xfrm>
                <a:off x="4416" y="2640"/>
                <a:ext cx="0" cy="288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665" name="Google Shape;665;p30"/>
              <p:cNvCxnSpPr/>
              <p:nvPr/>
            </p:nvCxnSpPr>
            <p:spPr>
              <a:xfrm flipH="1">
                <a:off x="4333" y="2708"/>
                <a:ext cx="144" cy="96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666" name="Google Shape;666;p30"/>
            <p:cNvGrpSpPr/>
            <p:nvPr/>
          </p:nvGrpSpPr>
          <p:grpSpPr>
            <a:xfrm>
              <a:off x="1488" y="3312"/>
              <a:ext cx="144" cy="288"/>
              <a:chOff x="4333" y="2640"/>
              <a:chExt cx="144" cy="288"/>
            </a:xfrm>
          </p:grpSpPr>
          <p:cxnSp>
            <p:nvCxnSpPr>
              <p:cNvPr id="667" name="Google Shape;667;p30"/>
              <p:cNvCxnSpPr/>
              <p:nvPr/>
            </p:nvCxnSpPr>
            <p:spPr>
              <a:xfrm>
                <a:off x="4416" y="2640"/>
                <a:ext cx="0" cy="288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668" name="Google Shape;668;p30"/>
              <p:cNvCxnSpPr/>
              <p:nvPr/>
            </p:nvCxnSpPr>
            <p:spPr>
              <a:xfrm flipH="1">
                <a:off x="4333" y="2708"/>
                <a:ext cx="144" cy="96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669" name="Google Shape;669;p30"/>
            <p:cNvCxnSpPr/>
            <p:nvPr/>
          </p:nvCxnSpPr>
          <p:spPr>
            <a:xfrm rot="10800000">
              <a:off x="1920" y="3120"/>
              <a:ext cx="336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670" name="Google Shape;670;p30"/>
            <p:cNvSpPr txBox="1"/>
            <p:nvPr/>
          </p:nvSpPr>
          <p:spPr>
            <a:xfrm>
              <a:off x="1948" y="2895"/>
              <a:ext cx="336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30"/>
            <p:cNvSpPr txBox="1"/>
            <p:nvPr/>
          </p:nvSpPr>
          <p:spPr>
            <a:xfrm>
              <a:off x="1296" y="3552"/>
              <a:ext cx="576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..S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72" name="Google Shape;672;p30"/>
            <p:cNvCxnSpPr/>
            <p:nvPr/>
          </p:nvCxnSpPr>
          <p:spPr>
            <a:xfrm rot="10800000">
              <a:off x="897" y="3153"/>
              <a:ext cx="336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673" name="Google Shape;673;p30"/>
            <p:cNvSpPr txBox="1"/>
            <p:nvPr/>
          </p:nvSpPr>
          <p:spPr>
            <a:xfrm>
              <a:off x="925" y="2928"/>
              <a:ext cx="336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30"/>
            <p:cNvSpPr txBox="1"/>
            <p:nvPr/>
          </p:nvSpPr>
          <p:spPr>
            <a:xfrm>
              <a:off x="4560" y="3360"/>
              <a:ext cx="192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30"/>
            <p:cNvSpPr txBox="1"/>
            <p:nvPr/>
          </p:nvSpPr>
          <p:spPr>
            <a:xfrm>
              <a:off x="3552" y="3360"/>
              <a:ext cx="192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30"/>
            <p:cNvSpPr txBox="1"/>
            <p:nvPr/>
          </p:nvSpPr>
          <p:spPr>
            <a:xfrm>
              <a:off x="2544" y="3360"/>
              <a:ext cx="192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30"/>
            <p:cNvSpPr txBox="1"/>
            <p:nvPr/>
          </p:nvSpPr>
          <p:spPr>
            <a:xfrm>
              <a:off x="1536" y="3360"/>
              <a:ext cx="192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30"/>
            <p:cNvSpPr txBox="1"/>
            <p:nvPr/>
          </p:nvSpPr>
          <p:spPr>
            <a:xfrm>
              <a:off x="2352" y="2688"/>
              <a:ext cx="192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30"/>
            <p:cNvSpPr txBox="1"/>
            <p:nvPr/>
          </p:nvSpPr>
          <p:spPr>
            <a:xfrm>
              <a:off x="1776" y="2688"/>
              <a:ext cx="192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30"/>
            <p:cNvSpPr txBox="1"/>
            <p:nvPr/>
          </p:nvSpPr>
          <p:spPr>
            <a:xfrm>
              <a:off x="1344" y="2688"/>
              <a:ext cx="192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30"/>
            <p:cNvSpPr txBox="1"/>
            <p:nvPr/>
          </p:nvSpPr>
          <p:spPr>
            <a:xfrm>
              <a:off x="4368" y="2688"/>
              <a:ext cx="192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30"/>
            <p:cNvSpPr txBox="1"/>
            <p:nvPr/>
          </p:nvSpPr>
          <p:spPr>
            <a:xfrm>
              <a:off x="3792" y="2688"/>
              <a:ext cx="192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30"/>
            <p:cNvSpPr txBox="1"/>
            <p:nvPr/>
          </p:nvSpPr>
          <p:spPr>
            <a:xfrm>
              <a:off x="3360" y="2688"/>
              <a:ext cx="192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30"/>
            <p:cNvSpPr txBox="1"/>
            <p:nvPr/>
          </p:nvSpPr>
          <p:spPr>
            <a:xfrm>
              <a:off x="2784" y="2688"/>
              <a:ext cx="192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30"/>
            <p:cNvSpPr txBox="1"/>
            <p:nvPr/>
          </p:nvSpPr>
          <p:spPr>
            <a:xfrm>
              <a:off x="4800" y="2688"/>
              <a:ext cx="192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6" name="Google Shape;686;p30"/>
          <p:cNvSpPr txBox="1"/>
          <p:nvPr/>
        </p:nvSpPr>
        <p:spPr>
          <a:xfrm>
            <a:off x="3733800" y="5334000"/>
            <a:ext cx="27432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16-bit parallel adder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31"/>
          <p:cNvSpPr txBox="1"/>
          <p:nvPr>
            <p:ph type="title"/>
          </p:nvPr>
        </p:nvSpPr>
        <p:spPr>
          <a:xfrm>
            <a:off x="12192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16-bit Parallel Adder</a:t>
            </a:r>
            <a:endParaRPr/>
          </a:p>
        </p:txBody>
      </p:sp>
      <p:sp>
        <p:nvSpPr>
          <p:cNvPr id="692" name="Google Shape;692;p31"/>
          <p:cNvSpPr txBox="1"/>
          <p:nvPr>
            <p:ph idx="1" type="body"/>
          </p:nvPr>
        </p:nvSpPr>
        <p:spPr>
          <a:xfrm>
            <a:off x="1143000" y="144780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Shortened notation for multiple lines. </a:t>
            </a:r>
            <a:endParaRPr/>
          </a:p>
        </p:txBody>
      </p:sp>
      <p:sp>
        <p:nvSpPr>
          <p:cNvPr id="693" name="Google Shape;693;p31"/>
          <p:cNvSpPr txBox="1"/>
          <p:nvPr/>
        </p:nvSpPr>
        <p:spPr>
          <a:xfrm>
            <a:off x="1600200" y="4191000"/>
            <a:ext cx="73152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16-bit parallel adder ripples carry from one 4-bit block to the next.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Such ripple-carry circuits are “slow” because of long delays needed to propagate the carries.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4" name="Google Shape;694;p31"/>
          <p:cNvCxnSpPr/>
          <p:nvPr/>
        </p:nvCxnSpPr>
        <p:spPr>
          <a:xfrm>
            <a:off x="3276600" y="2286000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95" name="Google Shape;695;p31"/>
          <p:cNvCxnSpPr/>
          <p:nvPr/>
        </p:nvCxnSpPr>
        <p:spPr>
          <a:xfrm flipH="1">
            <a:off x="3048000" y="25146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96" name="Google Shape;696;p31"/>
          <p:cNvSpPr txBox="1"/>
          <p:nvPr/>
        </p:nvSpPr>
        <p:spPr>
          <a:xfrm>
            <a:off x="3252787" y="2505075"/>
            <a:ext cx="3048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31"/>
          <p:cNvSpPr txBox="1"/>
          <p:nvPr/>
        </p:nvSpPr>
        <p:spPr>
          <a:xfrm>
            <a:off x="2743200" y="3200400"/>
            <a:ext cx="1143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baseline="-2500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.. S</a:t>
            </a:r>
            <a:r>
              <a:rPr b="1" baseline="-2500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8" name="Google Shape;698;p31"/>
          <p:cNvCxnSpPr/>
          <p:nvPr/>
        </p:nvCxnSpPr>
        <p:spPr>
          <a:xfrm>
            <a:off x="6019800" y="2286000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99" name="Google Shape;699;p31"/>
          <p:cNvCxnSpPr/>
          <p:nvPr/>
        </p:nvCxnSpPr>
        <p:spPr>
          <a:xfrm>
            <a:off x="6324600" y="2286000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00" name="Google Shape;700;p31"/>
          <p:cNvCxnSpPr/>
          <p:nvPr/>
        </p:nvCxnSpPr>
        <p:spPr>
          <a:xfrm>
            <a:off x="6934200" y="2286000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01" name="Google Shape;701;p31"/>
          <p:cNvCxnSpPr/>
          <p:nvPr/>
        </p:nvCxnSpPr>
        <p:spPr>
          <a:xfrm>
            <a:off x="6629400" y="2286000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02" name="Google Shape;702;p31"/>
          <p:cNvSpPr txBox="1"/>
          <p:nvPr/>
        </p:nvSpPr>
        <p:spPr>
          <a:xfrm>
            <a:off x="5791200" y="3276600"/>
            <a:ext cx="14478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baseline="-2500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</a:t>
            </a:r>
            <a:r>
              <a:rPr b="1" baseline="-2500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baseline="-2500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</a:t>
            </a:r>
            <a:r>
              <a:rPr b="1" baseline="-2500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31"/>
          <p:cNvSpPr txBox="1"/>
          <p:nvPr/>
        </p:nvSpPr>
        <p:spPr>
          <a:xfrm>
            <a:off x="3886200" y="2438400"/>
            <a:ext cx="19050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 shortened notation for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27"/>
          <p:cNvSpPr txBox="1"/>
          <p:nvPr>
            <p:ph type="title"/>
          </p:nvPr>
        </p:nvSpPr>
        <p:spPr>
          <a:xfrm>
            <a:off x="12192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Times New Roman"/>
              <a:buNone/>
            </a:pPr>
            <a:r>
              <a:rPr b="1" i="0" lang="en-US" sz="3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Arithmetic Circuits: Cascading Adders</a:t>
            </a:r>
            <a:endParaRPr/>
          </a:p>
        </p:txBody>
      </p:sp>
      <p:sp>
        <p:nvSpPr>
          <p:cNvPr id="709" name="Google Shape;709;p27"/>
          <p:cNvSpPr txBox="1"/>
          <p:nvPr>
            <p:ph idx="1" type="body"/>
          </p:nvPr>
        </p:nvSpPr>
        <p:spPr>
          <a:xfrm>
            <a:off x="1143000" y="1371600"/>
            <a:ext cx="76200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Application: 6-person voting system.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FAs and a 4-bit binary parallel adder.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FA can sum up to 3 votes.</a:t>
            </a:r>
            <a:endParaRPr/>
          </a:p>
        </p:txBody>
      </p:sp>
      <p:grpSp>
        <p:nvGrpSpPr>
          <p:cNvPr id="710" name="Google Shape;710;p27"/>
          <p:cNvGrpSpPr/>
          <p:nvPr/>
        </p:nvGrpSpPr>
        <p:grpSpPr>
          <a:xfrm>
            <a:off x="2209800" y="2819400"/>
            <a:ext cx="5770562" cy="3265487"/>
            <a:chOff x="1392" y="1776"/>
            <a:chExt cx="3635" cy="2057"/>
          </a:xfrm>
        </p:grpSpPr>
        <p:cxnSp>
          <p:nvCxnSpPr>
            <p:cNvPr id="711" name="Google Shape;711;p27"/>
            <p:cNvCxnSpPr/>
            <p:nvPr/>
          </p:nvCxnSpPr>
          <p:spPr>
            <a:xfrm>
              <a:off x="1920" y="2064"/>
              <a:ext cx="480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2" name="Google Shape;712;p27"/>
            <p:cNvCxnSpPr/>
            <p:nvPr/>
          </p:nvCxnSpPr>
          <p:spPr>
            <a:xfrm>
              <a:off x="1920" y="2256"/>
              <a:ext cx="480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3" name="Google Shape;713;p27"/>
            <p:cNvCxnSpPr/>
            <p:nvPr/>
          </p:nvCxnSpPr>
          <p:spPr>
            <a:xfrm>
              <a:off x="2928" y="2064"/>
              <a:ext cx="576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4" name="Google Shape;714;p27"/>
            <p:cNvCxnSpPr/>
            <p:nvPr/>
          </p:nvCxnSpPr>
          <p:spPr>
            <a:xfrm>
              <a:off x="2928" y="2352"/>
              <a:ext cx="144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15" name="Google Shape;715;p27"/>
            <p:cNvSpPr txBox="1"/>
            <p:nvPr/>
          </p:nvSpPr>
          <p:spPr>
            <a:xfrm>
              <a:off x="1392" y="1968"/>
              <a:ext cx="576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Voter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27"/>
            <p:cNvSpPr/>
            <p:nvPr/>
          </p:nvSpPr>
          <p:spPr>
            <a:xfrm flipH="1">
              <a:off x="4416" y="2256"/>
              <a:ext cx="48" cy="255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7" name="Google Shape;717;p27"/>
            <p:cNvSpPr txBox="1"/>
            <p:nvPr/>
          </p:nvSpPr>
          <p:spPr>
            <a:xfrm>
              <a:off x="4499" y="2193"/>
              <a:ext cx="528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3-bit Output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18" name="Google Shape;718;p27"/>
            <p:cNvGrpSpPr/>
            <p:nvPr/>
          </p:nvGrpSpPr>
          <p:grpSpPr>
            <a:xfrm>
              <a:off x="2352" y="1776"/>
              <a:ext cx="624" cy="816"/>
              <a:chOff x="3312" y="912"/>
              <a:chExt cx="624" cy="816"/>
            </a:xfrm>
          </p:grpSpPr>
          <p:sp>
            <p:nvSpPr>
              <p:cNvPr id="719" name="Google Shape;719;p27"/>
              <p:cNvSpPr txBox="1"/>
              <p:nvPr/>
            </p:nvSpPr>
            <p:spPr>
              <a:xfrm>
                <a:off x="3360" y="960"/>
                <a:ext cx="528" cy="768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20" name="Google Shape;720;p27"/>
              <p:cNvSpPr txBox="1"/>
              <p:nvPr/>
            </p:nvSpPr>
            <p:spPr>
              <a:xfrm>
                <a:off x="3312" y="1104"/>
                <a:ext cx="240" cy="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rPr b="1" i="0" lang="en-US" sz="1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1" name="Google Shape;721;p27"/>
              <p:cNvSpPr txBox="1"/>
              <p:nvPr/>
            </p:nvSpPr>
            <p:spPr>
              <a:xfrm>
                <a:off x="3312" y="1296"/>
                <a:ext cx="240" cy="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rPr b="1" i="0" lang="en-US" sz="1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2" name="Google Shape;722;p27"/>
              <p:cNvSpPr txBox="1"/>
              <p:nvPr/>
            </p:nvSpPr>
            <p:spPr>
              <a:xfrm>
                <a:off x="3504" y="912"/>
                <a:ext cx="240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b="1" i="0" lang="en-US" sz="1600" u="none" cap="none" strike="noStrike">
                    <a:solidFill>
                      <a:schemeClr val="dk1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rPr>
                  <a:t>Σ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3" name="Google Shape;723;p27"/>
              <p:cNvSpPr txBox="1"/>
              <p:nvPr/>
            </p:nvSpPr>
            <p:spPr>
              <a:xfrm>
                <a:off x="3552" y="1392"/>
                <a:ext cx="384" cy="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rPr b="1" i="0" lang="en-US" sz="1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Cout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4" name="Google Shape;724;p27"/>
              <p:cNvSpPr txBox="1"/>
              <p:nvPr/>
            </p:nvSpPr>
            <p:spPr>
              <a:xfrm>
                <a:off x="3696" y="1104"/>
                <a:ext cx="240" cy="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Noto Sans Symbols"/>
                  <a:buNone/>
                </a:pPr>
                <a:r>
                  <a:rPr b="1" i="0" lang="en-US" sz="1400" u="none" cap="none" strike="noStrike">
                    <a:solidFill>
                      <a:schemeClr val="dk1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rPr>
                  <a:t>Σ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5" name="Google Shape;725;p27"/>
              <p:cNvSpPr txBox="1"/>
              <p:nvPr/>
            </p:nvSpPr>
            <p:spPr>
              <a:xfrm>
                <a:off x="3312" y="1488"/>
                <a:ext cx="336" cy="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rPr b="1" i="0" lang="en-US" sz="1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Cin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726" name="Google Shape;726;p27"/>
            <p:cNvCxnSpPr/>
            <p:nvPr/>
          </p:nvCxnSpPr>
          <p:spPr>
            <a:xfrm>
              <a:off x="1920" y="2448"/>
              <a:ext cx="480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27" name="Google Shape;727;p27"/>
            <p:cNvSpPr txBox="1"/>
            <p:nvPr/>
          </p:nvSpPr>
          <p:spPr>
            <a:xfrm>
              <a:off x="1392" y="2160"/>
              <a:ext cx="576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Voter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27"/>
            <p:cNvSpPr txBox="1"/>
            <p:nvPr/>
          </p:nvSpPr>
          <p:spPr>
            <a:xfrm>
              <a:off x="1392" y="2352"/>
              <a:ext cx="576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Voter 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29" name="Google Shape;729;p27"/>
            <p:cNvCxnSpPr/>
            <p:nvPr/>
          </p:nvCxnSpPr>
          <p:spPr>
            <a:xfrm>
              <a:off x="1920" y="3120"/>
              <a:ext cx="480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0" name="Google Shape;730;p27"/>
            <p:cNvCxnSpPr/>
            <p:nvPr/>
          </p:nvCxnSpPr>
          <p:spPr>
            <a:xfrm>
              <a:off x="1920" y="3312"/>
              <a:ext cx="480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1" name="Google Shape;731;p27"/>
            <p:cNvCxnSpPr/>
            <p:nvPr/>
          </p:nvCxnSpPr>
          <p:spPr>
            <a:xfrm>
              <a:off x="2928" y="3120"/>
              <a:ext cx="144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2" name="Google Shape;732;p27"/>
            <p:cNvCxnSpPr/>
            <p:nvPr/>
          </p:nvCxnSpPr>
          <p:spPr>
            <a:xfrm>
              <a:off x="2928" y="3408"/>
              <a:ext cx="240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33" name="Google Shape;733;p27"/>
            <p:cNvSpPr txBox="1"/>
            <p:nvPr/>
          </p:nvSpPr>
          <p:spPr>
            <a:xfrm>
              <a:off x="1392" y="3024"/>
              <a:ext cx="576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Voter 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34" name="Google Shape;734;p27"/>
            <p:cNvGrpSpPr/>
            <p:nvPr/>
          </p:nvGrpSpPr>
          <p:grpSpPr>
            <a:xfrm>
              <a:off x="2352" y="2832"/>
              <a:ext cx="624" cy="816"/>
              <a:chOff x="3312" y="912"/>
              <a:chExt cx="624" cy="816"/>
            </a:xfrm>
          </p:grpSpPr>
          <p:sp>
            <p:nvSpPr>
              <p:cNvPr id="735" name="Google Shape;735;p27"/>
              <p:cNvSpPr txBox="1"/>
              <p:nvPr/>
            </p:nvSpPr>
            <p:spPr>
              <a:xfrm>
                <a:off x="3360" y="960"/>
                <a:ext cx="528" cy="768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6" name="Google Shape;736;p27"/>
              <p:cNvSpPr txBox="1"/>
              <p:nvPr/>
            </p:nvSpPr>
            <p:spPr>
              <a:xfrm>
                <a:off x="3312" y="1104"/>
                <a:ext cx="240" cy="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rPr b="1" i="0" lang="en-US" sz="1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7" name="Google Shape;737;p27"/>
              <p:cNvSpPr txBox="1"/>
              <p:nvPr/>
            </p:nvSpPr>
            <p:spPr>
              <a:xfrm>
                <a:off x="3312" y="1296"/>
                <a:ext cx="240" cy="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rPr b="1" i="0" lang="en-US" sz="1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8" name="Google Shape;738;p27"/>
              <p:cNvSpPr txBox="1"/>
              <p:nvPr/>
            </p:nvSpPr>
            <p:spPr>
              <a:xfrm>
                <a:off x="3504" y="912"/>
                <a:ext cx="240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b="1" i="0" lang="en-US" sz="1600" u="none" cap="none" strike="noStrike">
                    <a:solidFill>
                      <a:schemeClr val="dk1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rPr>
                  <a:t>Σ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9" name="Google Shape;739;p27"/>
              <p:cNvSpPr txBox="1"/>
              <p:nvPr/>
            </p:nvSpPr>
            <p:spPr>
              <a:xfrm>
                <a:off x="3552" y="1392"/>
                <a:ext cx="384" cy="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rPr b="1" i="0" lang="en-US" sz="1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Cout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0" name="Google Shape;740;p27"/>
              <p:cNvSpPr txBox="1"/>
              <p:nvPr/>
            </p:nvSpPr>
            <p:spPr>
              <a:xfrm>
                <a:off x="3696" y="1104"/>
                <a:ext cx="240" cy="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Noto Sans Symbols"/>
                  <a:buNone/>
                </a:pPr>
                <a:r>
                  <a:rPr b="1" i="0" lang="en-US" sz="1400" u="none" cap="none" strike="noStrike">
                    <a:solidFill>
                      <a:schemeClr val="dk1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rPr>
                  <a:t>Σ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1" name="Google Shape;741;p27"/>
              <p:cNvSpPr txBox="1"/>
              <p:nvPr/>
            </p:nvSpPr>
            <p:spPr>
              <a:xfrm>
                <a:off x="3312" y="1488"/>
                <a:ext cx="336" cy="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rPr b="1" i="0" lang="en-US" sz="1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Cin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742" name="Google Shape;742;p27"/>
            <p:cNvCxnSpPr/>
            <p:nvPr/>
          </p:nvCxnSpPr>
          <p:spPr>
            <a:xfrm>
              <a:off x="1920" y="3504"/>
              <a:ext cx="480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43" name="Google Shape;743;p27"/>
            <p:cNvSpPr txBox="1"/>
            <p:nvPr/>
          </p:nvSpPr>
          <p:spPr>
            <a:xfrm>
              <a:off x="1392" y="3216"/>
              <a:ext cx="576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Voter 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27"/>
            <p:cNvSpPr txBox="1"/>
            <p:nvPr/>
          </p:nvSpPr>
          <p:spPr>
            <a:xfrm>
              <a:off x="1392" y="3408"/>
              <a:ext cx="576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Voter 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27"/>
            <p:cNvSpPr txBox="1"/>
            <p:nvPr/>
          </p:nvSpPr>
          <p:spPr>
            <a:xfrm>
              <a:off x="2256" y="2553"/>
              <a:ext cx="864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Full-adder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27"/>
            <p:cNvSpPr txBox="1"/>
            <p:nvPr/>
          </p:nvSpPr>
          <p:spPr>
            <a:xfrm>
              <a:off x="2256" y="3621"/>
              <a:ext cx="864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Full-adder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47" name="Google Shape;747;p27"/>
            <p:cNvCxnSpPr/>
            <p:nvPr/>
          </p:nvCxnSpPr>
          <p:spPr>
            <a:xfrm>
              <a:off x="3072" y="2160"/>
              <a:ext cx="432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8" name="Google Shape;748;p27"/>
            <p:cNvCxnSpPr/>
            <p:nvPr/>
          </p:nvCxnSpPr>
          <p:spPr>
            <a:xfrm>
              <a:off x="3312" y="2256"/>
              <a:ext cx="192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9" name="Google Shape;749;p27"/>
            <p:cNvCxnSpPr/>
            <p:nvPr/>
          </p:nvCxnSpPr>
          <p:spPr>
            <a:xfrm>
              <a:off x="3312" y="2352"/>
              <a:ext cx="192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50" name="Google Shape;750;p27"/>
            <p:cNvCxnSpPr/>
            <p:nvPr/>
          </p:nvCxnSpPr>
          <p:spPr>
            <a:xfrm>
              <a:off x="3072" y="2544"/>
              <a:ext cx="432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51" name="Google Shape;751;p27"/>
            <p:cNvCxnSpPr/>
            <p:nvPr/>
          </p:nvCxnSpPr>
          <p:spPr>
            <a:xfrm>
              <a:off x="3168" y="2640"/>
              <a:ext cx="336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52" name="Google Shape;752;p27"/>
            <p:cNvCxnSpPr/>
            <p:nvPr/>
          </p:nvCxnSpPr>
          <p:spPr>
            <a:xfrm>
              <a:off x="3312" y="2736"/>
              <a:ext cx="192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53" name="Google Shape;753;p27"/>
            <p:cNvCxnSpPr/>
            <p:nvPr/>
          </p:nvCxnSpPr>
          <p:spPr>
            <a:xfrm>
              <a:off x="3312" y="2832"/>
              <a:ext cx="192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54" name="Google Shape;754;p27"/>
            <p:cNvCxnSpPr/>
            <p:nvPr/>
          </p:nvCxnSpPr>
          <p:spPr>
            <a:xfrm>
              <a:off x="3312" y="3024"/>
              <a:ext cx="192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55" name="Google Shape;755;p27"/>
            <p:cNvCxnSpPr/>
            <p:nvPr/>
          </p:nvCxnSpPr>
          <p:spPr>
            <a:xfrm>
              <a:off x="4128" y="2271"/>
              <a:ext cx="240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56" name="Google Shape;756;p27"/>
            <p:cNvCxnSpPr/>
            <p:nvPr/>
          </p:nvCxnSpPr>
          <p:spPr>
            <a:xfrm>
              <a:off x="4128" y="2367"/>
              <a:ext cx="240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57" name="Google Shape;757;p27"/>
            <p:cNvCxnSpPr/>
            <p:nvPr/>
          </p:nvCxnSpPr>
          <p:spPr>
            <a:xfrm>
              <a:off x="4128" y="2463"/>
              <a:ext cx="240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758" name="Google Shape;758;p27"/>
            <p:cNvGrpSpPr/>
            <p:nvPr/>
          </p:nvGrpSpPr>
          <p:grpSpPr>
            <a:xfrm>
              <a:off x="3476" y="1920"/>
              <a:ext cx="706" cy="1200"/>
              <a:chOff x="4196" y="2160"/>
              <a:chExt cx="706" cy="1200"/>
            </a:xfrm>
          </p:grpSpPr>
          <p:sp>
            <p:nvSpPr>
              <p:cNvPr id="759" name="Google Shape;759;p27"/>
              <p:cNvSpPr txBox="1"/>
              <p:nvPr/>
            </p:nvSpPr>
            <p:spPr>
              <a:xfrm>
                <a:off x="4224" y="2160"/>
                <a:ext cx="624" cy="12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60" name="Google Shape;760;p27"/>
              <p:cNvSpPr txBox="1"/>
              <p:nvPr/>
            </p:nvSpPr>
            <p:spPr>
              <a:xfrm>
                <a:off x="4416" y="2160"/>
                <a:ext cx="240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b="1" i="0" lang="en-US" sz="1600" u="none" cap="none" strike="noStrike">
                    <a:solidFill>
                      <a:schemeClr val="dk1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rPr>
                  <a:t>Σ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" name="Google Shape;761;p27"/>
              <p:cNvSpPr txBox="1"/>
              <p:nvPr/>
            </p:nvSpPr>
            <p:spPr>
              <a:xfrm>
                <a:off x="4512" y="2976"/>
                <a:ext cx="384" cy="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rPr b="1" i="0" lang="en-US" sz="1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Cout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2" name="Google Shape;762;p27"/>
              <p:cNvSpPr txBox="1"/>
              <p:nvPr/>
            </p:nvSpPr>
            <p:spPr>
              <a:xfrm>
                <a:off x="4224" y="3168"/>
                <a:ext cx="336" cy="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rPr b="1" i="0" lang="en-US" sz="1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Cin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63" name="Google Shape;763;p27"/>
              <p:cNvGrpSpPr/>
              <p:nvPr/>
            </p:nvGrpSpPr>
            <p:grpSpPr>
              <a:xfrm>
                <a:off x="4196" y="2256"/>
                <a:ext cx="301" cy="426"/>
                <a:chOff x="3552" y="3072"/>
                <a:chExt cx="301" cy="426"/>
              </a:xfrm>
            </p:grpSpPr>
            <p:sp>
              <p:nvSpPr>
                <p:cNvPr id="764" name="Google Shape;764;p27"/>
                <p:cNvSpPr/>
                <p:nvPr/>
              </p:nvSpPr>
              <p:spPr>
                <a:xfrm flipH="1">
                  <a:off x="3696" y="3120"/>
                  <a:ext cx="48" cy="336"/>
                </a:xfrm>
                <a:prstGeom prst="leftBrace">
                  <a:avLst>
                    <a:gd fmla="val 8333" name="adj1"/>
                    <a:gd fmla="val 50000" name="adj2"/>
                  </a:avLst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65" name="Google Shape;765;p27"/>
                <p:cNvSpPr txBox="1"/>
                <p:nvPr/>
              </p:nvSpPr>
              <p:spPr>
                <a:xfrm>
                  <a:off x="3709" y="3201"/>
                  <a:ext cx="144" cy="1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None/>
                  </a:pPr>
                  <a:r>
                    <a:rPr b="1" i="0" lang="en-US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6" name="Google Shape;766;p27"/>
                <p:cNvSpPr txBox="1"/>
                <p:nvPr/>
              </p:nvSpPr>
              <p:spPr>
                <a:xfrm>
                  <a:off x="3552" y="3072"/>
                  <a:ext cx="202" cy="42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200"/>
                    <a:buFont typeface="Arial"/>
                    <a:buNone/>
                  </a:pPr>
                  <a:r>
                    <a:rPr b="1" i="0" lang="en-US" sz="12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200"/>
                    <a:buFont typeface="Arial"/>
                    <a:buNone/>
                  </a:pPr>
                  <a:r>
                    <a:rPr b="1" i="0" lang="en-US" sz="12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200"/>
                    <a:buFont typeface="Arial"/>
                    <a:buNone/>
                  </a:pPr>
                  <a:r>
                    <a:rPr b="1" i="0" lang="en-US" sz="12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200"/>
                    <a:buFont typeface="Arial"/>
                    <a:buNone/>
                  </a:pPr>
                  <a:r>
                    <a:rPr b="1" i="0" lang="en-US" sz="12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67" name="Google Shape;767;p27"/>
              <p:cNvGrpSpPr/>
              <p:nvPr/>
            </p:nvGrpSpPr>
            <p:grpSpPr>
              <a:xfrm>
                <a:off x="4204" y="2736"/>
                <a:ext cx="301" cy="426"/>
                <a:chOff x="3552" y="3072"/>
                <a:chExt cx="301" cy="426"/>
              </a:xfrm>
            </p:grpSpPr>
            <p:sp>
              <p:nvSpPr>
                <p:cNvPr id="768" name="Google Shape;768;p27"/>
                <p:cNvSpPr/>
                <p:nvPr/>
              </p:nvSpPr>
              <p:spPr>
                <a:xfrm flipH="1">
                  <a:off x="3696" y="3120"/>
                  <a:ext cx="48" cy="336"/>
                </a:xfrm>
                <a:prstGeom prst="leftBrace">
                  <a:avLst>
                    <a:gd fmla="val 8333" name="adj1"/>
                    <a:gd fmla="val 50000" name="adj2"/>
                  </a:avLst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69" name="Google Shape;769;p27"/>
                <p:cNvSpPr txBox="1"/>
                <p:nvPr/>
              </p:nvSpPr>
              <p:spPr>
                <a:xfrm>
                  <a:off x="3709" y="3201"/>
                  <a:ext cx="144" cy="1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None/>
                  </a:pPr>
                  <a:r>
                    <a:rPr b="1" i="0" lang="en-US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0" name="Google Shape;770;p27"/>
                <p:cNvSpPr txBox="1"/>
                <p:nvPr/>
              </p:nvSpPr>
              <p:spPr>
                <a:xfrm>
                  <a:off x="3552" y="3072"/>
                  <a:ext cx="202" cy="42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200"/>
                    <a:buFont typeface="Arial"/>
                    <a:buNone/>
                  </a:pPr>
                  <a:r>
                    <a:rPr b="1" i="0" lang="en-US" sz="12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200"/>
                    <a:buFont typeface="Arial"/>
                    <a:buNone/>
                  </a:pPr>
                  <a:r>
                    <a:rPr b="1" i="0" lang="en-US" sz="12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200"/>
                    <a:buFont typeface="Arial"/>
                    <a:buNone/>
                  </a:pPr>
                  <a:r>
                    <a:rPr b="1" i="0" lang="en-US" sz="12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200"/>
                    <a:buFont typeface="Arial"/>
                    <a:buNone/>
                  </a:pPr>
                  <a:r>
                    <a:rPr b="1" i="0" lang="en-US" sz="12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71" name="Google Shape;771;p27"/>
              <p:cNvGrpSpPr/>
              <p:nvPr/>
            </p:nvGrpSpPr>
            <p:grpSpPr>
              <a:xfrm>
                <a:off x="4540" y="2448"/>
                <a:ext cx="362" cy="426"/>
                <a:chOff x="3392" y="3312"/>
                <a:chExt cx="362" cy="426"/>
              </a:xfrm>
            </p:grpSpPr>
            <p:sp>
              <p:nvSpPr>
                <p:cNvPr id="772" name="Google Shape;772;p27"/>
                <p:cNvSpPr/>
                <p:nvPr/>
              </p:nvSpPr>
              <p:spPr>
                <a:xfrm>
                  <a:off x="3538" y="3346"/>
                  <a:ext cx="48" cy="336"/>
                </a:xfrm>
                <a:prstGeom prst="leftBrace">
                  <a:avLst>
                    <a:gd fmla="val 8333" name="adj1"/>
                    <a:gd fmla="val 50000" name="adj2"/>
                  </a:avLst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73" name="Google Shape;773;p27"/>
                <p:cNvSpPr txBox="1"/>
                <p:nvPr/>
              </p:nvSpPr>
              <p:spPr>
                <a:xfrm>
                  <a:off x="3392" y="3441"/>
                  <a:ext cx="144" cy="1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None/>
                  </a:pPr>
                  <a:r>
                    <a:rPr b="1" i="0" lang="en-US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4" name="Google Shape;774;p27"/>
                <p:cNvSpPr txBox="1"/>
                <p:nvPr/>
              </p:nvSpPr>
              <p:spPr>
                <a:xfrm>
                  <a:off x="3552" y="3312"/>
                  <a:ext cx="202" cy="42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200"/>
                    <a:buFont typeface="Arial"/>
                    <a:buNone/>
                  </a:pPr>
                  <a:r>
                    <a:rPr b="1" i="0" lang="en-US" sz="12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200"/>
                    <a:buFont typeface="Arial"/>
                    <a:buNone/>
                  </a:pPr>
                  <a:r>
                    <a:rPr b="1" i="0" lang="en-US" sz="12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200"/>
                    <a:buFont typeface="Arial"/>
                    <a:buNone/>
                  </a:pPr>
                  <a:r>
                    <a:rPr b="1" i="0" lang="en-US" sz="12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200"/>
                    <a:buFont typeface="Arial"/>
                    <a:buNone/>
                  </a:pPr>
                  <a:r>
                    <a:rPr b="1" i="0" lang="en-US" sz="12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cxnSp>
          <p:nvCxnSpPr>
            <p:cNvPr id="775" name="Google Shape;775;p27"/>
            <p:cNvCxnSpPr/>
            <p:nvPr/>
          </p:nvCxnSpPr>
          <p:spPr>
            <a:xfrm>
              <a:off x="3072" y="2160"/>
              <a:ext cx="0" cy="192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76" name="Google Shape;776;p27"/>
            <p:cNvCxnSpPr/>
            <p:nvPr/>
          </p:nvCxnSpPr>
          <p:spPr>
            <a:xfrm>
              <a:off x="3072" y="2544"/>
              <a:ext cx="0" cy="576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77" name="Google Shape;777;p27"/>
            <p:cNvCxnSpPr/>
            <p:nvPr/>
          </p:nvCxnSpPr>
          <p:spPr>
            <a:xfrm>
              <a:off x="3168" y="2640"/>
              <a:ext cx="0" cy="768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78" name="Google Shape;778;p27"/>
            <p:cNvCxnSpPr/>
            <p:nvPr/>
          </p:nvCxnSpPr>
          <p:spPr>
            <a:xfrm>
              <a:off x="3312" y="2256"/>
              <a:ext cx="0" cy="1248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79" name="Google Shape;779;p27"/>
            <p:cNvCxnSpPr/>
            <p:nvPr/>
          </p:nvCxnSpPr>
          <p:spPr>
            <a:xfrm>
              <a:off x="3216" y="3504"/>
              <a:ext cx="192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80" name="Google Shape;780;p27"/>
            <p:cNvCxnSpPr/>
            <p:nvPr/>
          </p:nvCxnSpPr>
          <p:spPr>
            <a:xfrm>
              <a:off x="3244" y="3533"/>
              <a:ext cx="144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81" name="Google Shape;781;p27"/>
            <p:cNvCxnSpPr/>
            <p:nvPr/>
          </p:nvCxnSpPr>
          <p:spPr>
            <a:xfrm>
              <a:off x="3264" y="3567"/>
              <a:ext cx="96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82" name="Google Shape;782;p27"/>
            <p:cNvSpPr/>
            <p:nvPr/>
          </p:nvSpPr>
          <p:spPr>
            <a:xfrm>
              <a:off x="3284" y="2708"/>
              <a:ext cx="48" cy="48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3" name="Google Shape;783;p27"/>
            <p:cNvSpPr/>
            <p:nvPr/>
          </p:nvSpPr>
          <p:spPr>
            <a:xfrm>
              <a:off x="3284" y="2812"/>
              <a:ext cx="48" cy="48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4" name="Google Shape;784;p27"/>
            <p:cNvSpPr/>
            <p:nvPr/>
          </p:nvSpPr>
          <p:spPr>
            <a:xfrm>
              <a:off x="3284" y="2992"/>
              <a:ext cx="48" cy="48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5" name="Google Shape;785;p27"/>
            <p:cNvSpPr/>
            <p:nvPr/>
          </p:nvSpPr>
          <p:spPr>
            <a:xfrm>
              <a:off x="3284" y="2324"/>
              <a:ext cx="48" cy="48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6" name="Google Shape;786;p27"/>
            <p:cNvSpPr txBox="1"/>
            <p:nvPr/>
          </p:nvSpPr>
          <p:spPr>
            <a:xfrm>
              <a:off x="3360" y="3092"/>
              <a:ext cx="912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Parallel adder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7" name="Google Shape;787;p27"/>
          <p:cNvGrpSpPr/>
          <p:nvPr/>
        </p:nvGrpSpPr>
        <p:grpSpPr>
          <a:xfrm>
            <a:off x="5562600" y="2209800"/>
            <a:ext cx="2133600" cy="1555750"/>
            <a:chOff x="5562600" y="2209800"/>
            <a:chExt cx="2133600" cy="1555750"/>
          </a:xfrm>
        </p:grpSpPr>
        <p:cxnSp>
          <p:nvCxnSpPr>
            <p:cNvPr id="788" name="Google Shape;788;p27"/>
            <p:cNvCxnSpPr/>
            <p:nvPr/>
          </p:nvCxnSpPr>
          <p:spPr>
            <a:xfrm flipH="1" rot="10800000">
              <a:off x="5562600" y="2438400"/>
              <a:ext cx="457200" cy="8382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789" name="Google Shape;789;p27"/>
            <p:cNvSpPr txBox="1"/>
            <p:nvPr/>
          </p:nvSpPr>
          <p:spPr>
            <a:xfrm>
              <a:off x="6096000" y="2209800"/>
              <a:ext cx="990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LSB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90" name="Google Shape;790;p27"/>
            <p:cNvCxnSpPr/>
            <p:nvPr/>
          </p:nvCxnSpPr>
          <p:spPr>
            <a:xfrm flipH="1" rot="10800000">
              <a:off x="5562600" y="2895600"/>
              <a:ext cx="1219200" cy="86995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791" name="Google Shape;791;p27"/>
            <p:cNvSpPr txBox="1"/>
            <p:nvPr/>
          </p:nvSpPr>
          <p:spPr>
            <a:xfrm>
              <a:off x="6638925" y="2667000"/>
              <a:ext cx="105727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MSB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2" name="Google Shape;792;p27"/>
          <p:cNvGrpSpPr/>
          <p:nvPr/>
        </p:nvGrpSpPr>
        <p:grpSpPr>
          <a:xfrm>
            <a:off x="5607050" y="4056062"/>
            <a:ext cx="2424112" cy="1447800"/>
            <a:chOff x="5562600" y="3276602"/>
            <a:chExt cx="2424752" cy="1447661"/>
          </a:xfrm>
        </p:grpSpPr>
        <p:cxnSp>
          <p:nvCxnSpPr>
            <p:cNvPr id="793" name="Google Shape;793;p27"/>
            <p:cNvCxnSpPr/>
            <p:nvPr/>
          </p:nvCxnSpPr>
          <p:spPr>
            <a:xfrm>
              <a:off x="5562600" y="3276602"/>
              <a:ext cx="1365610" cy="446044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794" name="Google Shape;794;p27"/>
            <p:cNvSpPr txBox="1"/>
            <p:nvPr/>
          </p:nvSpPr>
          <p:spPr>
            <a:xfrm>
              <a:off x="6927850" y="3491073"/>
              <a:ext cx="990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LSB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95" name="Google Shape;795;p27"/>
            <p:cNvCxnSpPr/>
            <p:nvPr/>
          </p:nvCxnSpPr>
          <p:spPr>
            <a:xfrm>
              <a:off x="5562600" y="3765505"/>
              <a:ext cx="1367198" cy="728592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796" name="Google Shape;796;p27"/>
            <p:cNvSpPr txBox="1"/>
            <p:nvPr/>
          </p:nvSpPr>
          <p:spPr>
            <a:xfrm>
              <a:off x="6930077" y="4262598"/>
              <a:ext cx="105727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MSB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7" name="Google Shape;797;p27"/>
          <p:cNvGrpSpPr/>
          <p:nvPr/>
        </p:nvGrpSpPr>
        <p:grpSpPr>
          <a:xfrm>
            <a:off x="6573837" y="2857500"/>
            <a:ext cx="2689225" cy="1852612"/>
            <a:chOff x="5298246" y="2871720"/>
            <a:chExt cx="2689106" cy="1852543"/>
          </a:xfrm>
        </p:grpSpPr>
        <p:cxnSp>
          <p:nvCxnSpPr>
            <p:cNvPr id="798" name="Google Shape;798;p27"/>
            <p:cNvCxnSpPr/>
            <p:nvPr/>
          </p:nvCxnSpPr>
          <p:spPr>
            <a:xfrm flipH="1" rot="10800000">
              <a:off x="5322057" y="3078087"/>
              <a:ext cx="1606479" cy="523855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799" name="Google Shape;799;p27"/>
            <p:cNvSpPr txBox="1"/>
            <p:nvPr/>
          </p:nvSpPr>
          <p:spPr>
            <a:xfrm>
              <a:off x="6882666" y="2871720"/>
              <a:ext cx="990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LSB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00" name="Google Shape;800;p27"/>
            <p:cNvCxnSpPr/>
            <p:nvPr/>
          </p:nvCxnSpPr>
          <p:spPr>
            <a:xfrm>
              <a:off x="5298246" y="4036901"/>
              <a:ext cx="1631878" cy="457183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801" name="Google Shape;801;p27"/>
            <p:cNvSpPr txBox="1"/>
            <p:nvPr/>
          </p:nvSpPr>
          <p:spPr>
            <a:xfrm>
              <a:off x="6930077" y="4262598"/>
              <a:ext cx="105727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MSB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28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 it yourself</a:t>
            </a:r>
            <a:endParaRPr/>
          </a:p>
        </p:txBody>
      </p:sp>
      <p:sp>
        <p:nvSpPr>
          <p:cNvPr id="807" name="Google Shape;807;p28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 12 person voting system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29"/>
          <p:cNvSpPr txBox="1"/>
          <p:nvPr>
            <p:ph type="title"/>
          </p:nvPr>
        </p:nvSpPr>
        <p:spPr>
          <a:xfrm>
            <a:off x="1674812" y="63500"/>
            <a:ext cx="7772400" cy="661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/>
          </a:p>
        </p:txBody>
      </p:sp>
      <p:cxnSp>
        <p:nvCxnSpPr>
          <p:cNvPr id="813" name="Google Shape;813;p29"/>
          <p:cNvCxnSpPr/>
          <p:nvPr/>
        </p:nvCxnSpPr>
        <p:spPr>
          <a:xfrm>
            <a:off x="4835525" y="1365250"/>
            <a:ext cx="2175000" cy="1292100"/>
          </a:xfrm>
          <a:prstGeom prst="bentConnector4">
            <a:avLst>
              <a:gd fmla="val 0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14" name="Google Shape;814;p29"/>
          <p:cNvSpPr txBox="1"/>
          <p:nvPr/>
        </p:nvSpPr>
        <p:spPr>
          <a:xfrm>
            <a:off x="8259762" y="2635250"/>
            <a:ext cx="808037" cy="585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4-bit 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15" name="Google Shape;815;p29"/>
          <p:cNvGrpSpPr/>
          <p:nvPr/>
        </p:nvGrpSpPr>
        <p:grpSpPr>
          <a:xfrm>
            <a:off x="152400" y="446087"/>
            <a:ext cx="8001000" cy="6389687"/>
            <a:chOff x="75687" y="397466"/>
            <a:chExt cx="8001513" cy="6389908"/>
          </a:xfrm>
        </p:grpSpPr>
        <p:pic>
          <p:nvPicPr>
            <p:cNvPr id="816" name="Google Shape;816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934200" y="2140255"/>
              <a:ext cx="1143000" cy="2057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17" name="Google Shape;817;p29"/>
            <p:cNvGrpSpPr/>
            <p:nvPr/>
          </p:nvGrpSpPr>
          <p:grpSpPr>
            <a:xfrm>
              <a:off x="75687" y="397466"/>
              <a:ext cx="6845739" cy="6389908"/>
              <a:chOff x="75687" y="397466"/>
              <a:chExt cx="6845739" cy="6389908"/>
            </a:xfrm>
          </p:grpSpPr>
          <p:grpSp>
            <p:nvGrpSpPr>
              <p:cNvPr id="818" name="Google Shape;818;p29"/>
              <p:cNvGrpSpPr/>
              <p:nvPr/>
            </p:nvGrpSpPr>
            <p:grpSpPr>
              <a:xfrm>
                <a:off x="204997" y="397466"/>
                <a:ext cx="5562599" cy="3200400"/>
                <a:chOff x="1392" y="1776"/>
                <a:chExt cx="3635" cy="2057"/>
              </a:xfrm>
            </p:grpSpPr>
            <p:cxnSp>
              <p:nvCxnSpPr>
                <p:cNvPr id="819" name="Google Shape;819;p29"/>
                <p:cNvCxnSpPr/>
                <p:nvPr/>
              </p:nvCxnSpPr>
              <p:spPr>
                <a:xfrm>
                  <a:off x="1920" y="2064"/>
                  <a:ext cx="480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20" name="Google Shape;820;p29"/>
                <p:cNvCxnSpPr/>
                <p:nvPr/>
              </p:nvCxnSpPr>
              <p:spPr>
                <a:xfrm>
                  <a:off x="1920" y="2256"/>
                  <a:ext cx="480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21" name="Google Shape;821;p29"/>
                <p:cNvCxnSpPr/>
                <p:nvPr/>
              </p:nvCxnSpPr>
              <p:spPr>
                <a:xfrm>
                  <a:off x="2928" y="2064"/>
                  <a:ext cx="576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22" name="Google Shape;822;p29"/>
                <p:cNvCxnSpPr/>
                <p:nvPr/>
              </p:nvCxnSpPr>
              <p:spPr>
                <a:xfrm>
                  <a:off x="2928" y="2352"/>
                  <a:ext cx="144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823" name="Google Shape;823;p29"/>
                <p:cNvSpPr txBox="1"/>
                <p:nvPr/>
              </p:nvSpPr>
              <p:spPr>
                <a:xfrm>
                  <a:off x="1392" y="1968"/>
                  <a:ext cx="576" cy="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Voter 1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4" name="Google Shape;824;p29"/>
                <p:cNvSpPr/>
                <p:nvPr/>
              </p:nvSpPr>
              <p:spPr>
                <a:xfrm flipH="1">
                  <a:off x="4416" y="2256"/>
                  <a:ext cx="48" cy="255"/>
                </a:xfrm>
                <a:prstGeom prst="leftBrace">
                  <a:avLst>
                    <a:gd fmla="val 8333" name="adj1"/>
                    <a:gd fmla="val 50000" name="adj2"/>
                  </a:avLst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825" name="Google Shape;825;p29"/>
                <p:cNvSpPr txBox="1"/>
                <p:nvPr/>
              </p:nvSpPr>
              <p:spPr>
                <a:xfrm>
                  <a:off x="4499" y="2193"/>
                  <a:ext cx="528" cy="3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3-bit Output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26" name="Google Shape;826;p29"/>
                <p:cNvGrpSpPr/>
                <p:nvPr/>
              </p:nvGrpSpPr>
              <p:grpSpPr>
                <a:xfrm>
                  <a:off x="2352" y="1776"/>
                  <a:ext cx="624" cy="816"/>
                  <a:chOff x="3312" y="912"/>
                  <a:chExt cx="624" cy="816"/>
                </a:xfrm>
              </p:grpSpPr>
              <p:sp>
                <p:nvSpPr>
                  <p:cNvPr id="827" name="Google Shape;827;p29"/>
                  <p:cNvSpPr txBox="1"/>
                  <p:nvPr/>
                </p:nvSpPr>
                <p:spPr>
                  <a:xfrm>
                    <a:off x="3360" y="960"/>
                    <a:ext cx="528" cy="768"/>
                  </a:xfrm>
                  <a:prstGeom prst="rect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  <p:sp>
                <p:nvSpPr>
                  <p:cNvPr id="828" name="Google Shape;828;p29"/>
                  <p:cNvSpPr txBox="1"/>
                  <p:nvPr/>
                </p:nvSpPr>
                <p:spPr>
                  <a:xfrm>
                    <a:off x="3312" y="1104"/>
                    <a:ext cx="240" cy="19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400"/>
                      <a:buFont typeface="Arial"/>
                      <a:buNone/>
                    </a:pPr>
                    <a:r>
                      <a:rPr b="1" i="0" lang="en-US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9" name="Google Shape;829;p29"/>
                  <p:cNvSpPr txBox="1"/>
                  <p:nvPr/>
                </p:nvSpPr>
                <p:spPr>
                  <a:xfrm>
                    <a:off x="3312" y="1296"/>
                    <a:ext cx="240" cy="19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400"/>
                      <a:buFont typeface="Arial"/>
                      <a:buNone/>
                    </a:pPr>
                    <a:r>
                      <a:rPr b="1" i="0" lang="en-US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B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30" name="Google Shape;830;p29"/>
                  <p:cNvSpPr txBox="1"/>
                  <p:nvPr/>
                </p:nvSpPr>
                <p:spPr>
                  <a:xfrm>
                    <a:off x="3504" y="912"/>
                    <a:ext cx="240" cy="21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Noto Sans Symbols"/>
                      <a:buNone/>
                    </a:pPr>
                    <a:r>
                      <a:rPr b="1" i="0" lang="en-US" sz="1600" u="none" cap="none" strike="noStrike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rPr>
                      <a:t>Σ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31" name="Google Shape;831;p29"/>
                  <p:cNvSpPr txBox="1"/>
                  <p:nvPr/>
                </p:nvSpPr>
                <p:spPr>
                  <a:xfrm>
                    <a:off x="3552" y="1392"/>
                    <a:ext cx="384" cy="19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400"/>
                      <a:buFont typeface="Arial"/>
                      <a:buNone/>
                    </a:pPr>
                    <a:r>
                      <a:rPr b="1" i="0" lang="en-US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Cout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32" name="Google Shape;832;p29"/>
                  <p:cNvSpPr txBox="1"/>
                  <p:nvPr/>
                </p:nvSpPr>
                <p:spPr>
                  <a:xfrm>
                    <a:off x="3696" y="1104"/>
                    <a:ext cx="240" cy="19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400"/>
                      <a:buFont typeface="Noto Sans Symbols"/>
                      <a:buNone/>
                    </a:pPr>
                    <a:r>
                      <a:rPr b="1" i="0" lang="en-US" sz="1400" u="none" cap="none" strike="noStrike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rPr>
                      <a:t>Σ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33" name="Google Shape;833;p29"/>
                  <p:cNvSpPr txBox="1"/>
                  <p:nvPr/>
                </p:nvSpPr>
                <p:spPr>
                  <a:xfrm>
                    <a:off x="3312" y="1488"/>
                    <a:ext cx="336" cy="19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400"/>
                      <a:buFont typeface="Arial"/>
                      <a:buNone/>
                    </a:pPr>
                    <a:r>
                      <a:rPr b="1" i="0" lang="en-US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Cin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834" name="Google Shape;834;p29"/>
                <p:cNvCxnSpPr/>
                <p:nvPr/>
              </p:nvCxnSpPr>
              <p:spPr>
                <a:xfrm>
                  <a:off x="1920" y="2448"/>
                  <a:ext cx="480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835" name="Google Shape;835;p29"/>
                <p:cNvSpPr txBox="1"/>
                <p:nvPr/>
              </p:nvSpPr>
              <p:spPr>
                <a:xfrm>
                  <a:off x="1392" y="2160"/>
                  <a:ext cx="576" cy="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Voter 2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6" name="Google Shape;836;p29"/>
                <p:cNvSpPr txBox="1"/>
                <p:nvPr/>
              </p:nvSpPr>
              <p:spPr>
                <a:xfrm>
                  <a:off x="1392" y="2352"/>
                  <a:ext cx="576" cy="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Voter 3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837" name="Google Shape;837;p29"/>
                <p:cNvCxnSpPr/>
                <p:nvPr/>
              </p:nvCxnSpPr>
              <p:spPr>
                <a:xfrm>
                  <a:off x="1920" y="3120"/>
                  <a:ext cx="480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38" name="Google Shape;838;p29"/>
                <p:cNvCxnSpPr/>
                <p:nvPr/>
              </p:nvCxnSpPr>
              <p:spPr>
                <a:xfrm>
                  <a:off x="1920" y="3312"/>
                  <a:ext cx="480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39" name="Google Shape;839;p29"/>
                <p:cNvCxnSpPr/>
                <p:nvPr/>
              </p:nvCxnSpPr>
              <p:spPr>
                <a:xfrm>
                  <a:off x="2928" y="3120"/>
                  <a:ext cx="144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40" name="Google Shape;840;p29"/>
                <p:cNvCxnSpPr/>
                <p:nvPr/>
              </p:nvCxnSpPr>
              <p:spPr>
                <a:xfrm>
                  <a:off x="2928" y="3408"/>
                  <a:ext cx="240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841" name="Google Shape;841;p29"/>
                <p:cNvSpPr txBox="1"/>
                <p:nvPr/>
              </p:nvSpPr>
              <p:spPr>
                <a:xfrm>
                  <a:off x="1392" y="3024"/>
                  <a:ext cx="576" cy="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Voter 4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42" name="Google Shape;842;p29"/>
                <p:cNvGrpSpPr/>
                <p:nvPr/>
              </p:nvGrpSpPr>
              <p:grpSpPr>
                <a:xfrm>
                  <a:off x="2352" y="2832"/>
                  <a:ext cx="624" cy="816"/>
                  <a:chOff x="3312" y="912"/>
                  <a:chExt cx="624" cy="816"/>
                </a:xfrm>
              </p:grpSpPr>
              <p:sp>
                <p:nvSpPr>
                  <p:cNvPr id="843" name="Google Shape;843;p29"/>
                  <p:cNvSpPr txBox="1"/>
                  <p:nvPr/>
                </p:nvSpPr>
                <p:spPr>
                  <a:xfrm>
                    <a:off x="3360" y="960"/>
                    <a:ext cx="528" cy="768"/>
                  </a:xfrm>
                  <a:prstGeom prst="rect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  <p:sp>
                <p:nvSpPr>
                  <p:cNvPr id="844" name="Google Shape;844;p29"/>
                  <p:cNvSpPr txBox="1"/>
                  <p:nvPr/>
                </p:nvSpPr>
                <p:spPr>
                  <a:xfrm>
                    <a:off x="3312" y="1104"/>
                    <a:ext cx="240" cy="19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400"/>
                      <a:buFont typeface="Arial"/>
                      <a:buNone/>
                    </a:pPr>
                    <a:r>
                      <a:rPr b="1" i="0" lang="en-US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5" name="Google Shape;845;p29"/>
                  <p:cNvSpPr txBox="1"/>
                  <p:nvPr/>
                </p:nvSpPr>
                <p:spPr>
                  <a:xfrm>
                    <a:off x="3312" y="1296"/>
                    <a:ext cx="240" cy="19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400"/>
                      <a:buFont typeface="Arial"/>
                      <a:buNone/>
                    </a:pPr>
                    <a:r>
                      <a:rPr b="1" i="0" lang="en-US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B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6" name="Google Shape;846;p29"/>
                  <p:cNvSpPr txBox="1"/>
                  <p:nvPr/>
                </p:nvSpPr>
                <p:spPr>
                  <a:xfrm>
                    <a:off x="3504" y="912"/>
                    <a:ext cx="240" cy="21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Noto Sans Symbols"/>
                      <a:buNone/>
                    </a:pPr>
                    <a:r>
                      <a:rPr b="1" i="0" lang="en-US" sz="1600" u="none" cap="none" strike="noStrike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rPr>
                      <a:t>Σ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7" name="Google Shape;847;p29"/>
                  <p:cNvSpPr txBox="1"/>
                  <p:nvPr/>
                </p:nvSpPr>
                <p:spPr>
                  <a:xfrm>
                    <a:off x="3552" y="1392"/>
                    <a:ext cx="384" cy="19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400"/>
                      <a:buFont typeface="Arial"/>
                      <a:buNone/>
                    </a:pPr>
                    <a:r>
                      <a:rPr b="1" i="0" lang="en-US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Cout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8" name="Google Shape;848;p29"/>
                  <p:cNvSpPr txBox="1"/>
                  <p:nvPr/>
                </p:nvSpPr>
                <p:spPr>
                  <a:xfrm>
                    <a:off x="3696" y="1104"/>
                    <a:ext cx="240" cy="19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400"/>
                      <a:buFont typeface="Noto Sans Symbols"/>
                      <a:buNone/>
                    </a:pPr>
                    <a:r>
                      <a:rPr b="1" i="0" lang="en-US" sz="1400" u="none" cap="none" strike="noStrike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rPr>
                      <a:t>Σ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9" name="Google Shape;849;p29"/>
                  <p:cNvSpPr txBox="1"/>
                  <p:nvPr/>
                </p:nvSpPr>
                <p:spPr>
                  <a:xfrm>
                    <a:off x="3312" y="1488"/>
                    <a:ext cx="336" cy="19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400"/>
                      <a:buFont typeface="Arial"/>
                      <a:buNone/>
                    </a:pPr>
                    <a:r>
                      <a:rPr b="1" i="0" lang="en-US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Cin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850" name="Google Shape;850;p29"/>
                <p:cNvCxnSpPr/>
                <p:nvPr/>
              </p:nvCxnSpPr>
              <p:spPr>
                <a:xfrm>
                  <a:off x="1920" y="3504"/>
                  <a:ext cx="480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851" name="Google Shape;851;p29"/>
                <p:cNvSpPr txBox="1"/>
                <p:nvPr/>
              </p:nvSpPr>
              <p:spPr>
                <a:xfrm>
                  <a:off x="1392" y="3216"/>
                  <a:ext cx="576" cy="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Voter 5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2" name="Google Shape;852;p29"/>
                <p:cNvSpPr txBox="1"/>
                <p:nvPr/>
              </p:nvSpPr>
              <p:spPr>
                <a:xfrm>
                  <a:off x="1392" y="3408"/>
                  <a:ext cx="576" cy="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Voter 6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3" name="Google Shape;853;p29"/>
                <p:cNvSpPr txBox="1"/>
                <p:nvPr/>
              </p:nvSpPr>
              <p:spPr>
                <a:xfrm>
                  <a:off x="2256" y="2553"/>
                  <a:ext cx="864" cy="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Full-adder 1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4" name="Google Shape;854;p29"/>
                <p:cNvSpPr txBox="1"/>
                <p:nvPr/>
              </p:nvSpPr>
              <p:spPr>
                <a:xfrm>
                  <a:off x="2256" y="3621"/>
                  <a:ext cx="864" cy="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Full-adder 2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855" name="Google Shape;855;p29"/>
                <p:cNvCxnSpPr/>
                <p:nvPr/>
              </p:nvCxnSpPr>
              <p:spPr>
                <a:xfrm>
                  <a:off x="3072" y="2160"/>
                  <a:ext cx="432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56" name="Google Shape;856;p29"/>
                <p:cNvCxnSpPr/>
                <p:nvPr/>
              </p:nvCxnSpPr>
              <p:spPr>
                <a:xfrm>
                  <a:off x="3312" y="2256"/>
                  <a:ext cx="192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57" name="Google Shape;857;p29"/>
                <p:cNvCxnSpPr/>
                <p:nvPr/>
              </p:nvCxnSpPr>
              <p:spPr>
                <a:xfrm>
                  <a:off x="3312" y="2352"/>
                  <a:ext cx="192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58" name="Google Shape;858;p29"/>
                <p:cNvCxnSpPr/>
                <p:nvPr/>
              </p:nvCxnSpPr>
              <p:spPr>
                <a:xfrm>
                  <a:off x="3072" y="2544"/>
                  <a:ext cx="432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59" name="Google Shape;859;p29"/>
                <p:cNvCxnSpPr/>
                <p:nvPr/>
              </p:nvCxnSpPr>
              <p:spPr>
                <a:xfrm>
                  <a:off x="3168" y="2640"/>
                  <a:ext cx="336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60" name="Google Shape;860;p29"/>
                <p:cNvCxnSpPr/>
                <p:nvPr/>
              </p:nvCxnSpPr>
              <p:spPr>
                <a:xfrm>
                  <a:off x="3312" y="2736"/>
                  <a:ext cx="192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61" name="Google Shape;861;p29"/>
                <p:cNvCxnSpPr/>
                <p:nvPr/>
              </p:nvCxnSpPr>
              <p:spPr>
                <a:xfrm>
                  <a:off x="3312" y="2832"/>
                  <a:ext cx="192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62" name="Google Shape;862;p29"/>
                <p:cNvCxnSpPr/>
                <p:nvPr/>
              </p:nvCxnSpPr>
              <p:spPr>
                <a:xfrm>
                  <a:off x="3312" y="3024"/>
                  <a:ext cx="192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63" name="Google Shape;863;p29"/>
                <p:cNvCxnSpPr/>
                <p:nvPr/>
              </p:nvCxnSpPr>
              <p:spPr>
                <a:xfrm>
                  <a:off x="4128" y="2271"/>
                  <a:ext cx="240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64" name="Google Shape;864;p29"/>
                <p:cNvCxnSpPr/>
                <p:nvPr/>
              </p:nvCxnSpPr>
              <p:spPr>
                <a:xfrm>
                  <a:off x="4128" y="2367"/>
                  <a:ext cx="240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65" name="Google Shape;865;p29"/>
                <p:cNvCxnSpPr/>
                <p:nvPr/>
              </p:nvCxnSpPr>
              <p:spPr>
                <a:xfrm>
                  <a:off x="4128" y="2463"/>
                  <a:ext cx="240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866" name="Google Shape;866;p29"/>
                <p:cNvGrpSpPr/>
                <p:nvPr/>
              </p:nvGrpSpPr>
              <p:grpSpPr>
                <a:xfrm>
                  <a:off x="3476" y="1920"/>
                  <a:ext cx="706" cy="1200"/>
                  <a:chOff x="4196" y="2160"/>
                  <a:chExt cx="706" cy="1200"/>
                </a:xfrm>
              </p:grpSpPr>
              <p:sp>
                <p:nvSpPr>
                  <p:cNvPr id="867" name="Google Shape;867;p29"/>
                  <p:cNvSpPr txBox="1"/>
                  <p:nvPr/>
                </p:nvSpPr>
                <p:spPr>
                  <a:xfrm>
                    <a:off x="4224" y="2160"/>
                    <a:ext cx="624" cy="1200"/>
                  </a:xfrm>
                  <a:prstGeom prst="rect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  <p:sp>
                <p:nvSpPr>
                  <p:cNvPr id="868" name="Google Shape;868;p29"/>
                  <p:cNvSpPr txBox="1"/>
                  <p:nvPr/>
                </p:nvSpPr>
                <p:spPr>
                  <a:xfrm>
                    <a:off x="4416" y="2160"/>
                    <a:ext cx="240" cy="21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Noto Sans Symbols"/>
                      <a:buNone/>
                    </a:pPr>
                    <a:r>
                      <a:rPr b="1" i="0" lang="en-US" sz="1600" u="none" cap="none" strike="noStrike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rPr>
                      <a:t>Σ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9" name="Google Shape;869;p29"/>
                  <p:cNvSpPr txBox="1"/>
                  <p:nvPr/>
                </p:nvSpPr>
                <p:spPr>
                  <a:xfrm>
                    <a:off x="4512" y="2976"/>
                    <a:ext cx="384" cy="19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400"/>
                      <a:buFont typeface="Arial"/>
                      <a:buNone/>
                    </a:pPr>
                    <a:r>
                      <a:rPr b="1" i="0" lang="en-US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Cout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0" name="Google Shape;870;p29"/>
                  <p:cNvSpPr txBox="1"/>
                  <p:nvPr/>
                </p:nvSpPr>
                <p:spPr>
                  <a:xfrm>
                    <a:off x="4224" y="3168"/>
                    <a:ext cx="336" cy="19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400"/>
                      <a:buFont typeface="Arial"/>
                      <a:buNone/>
                    </a:pPr>
                    <a:r>
                      <a:rPr b="1" i="0" lang="en-US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Cin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71" name="Google Shape;871;p29"/>
                  <p:cNvGrpSpPr/>
                  <p:nvPr/>
                </p:nvGrpSpPr>
                <p:grpSpPr>
                  <a:xfrm>
                    <a:off x="4196" y="2256"/>
                    <a:ext cx="301" cy="426"/>
                    <a:chOff x="3552" y="3072"/>
                    <a:chExt cx="301" cy="426"/>
                  </a:xfrm>
                </p:grpSpPr>
                <p:sp>
                  <p:nvSpPr>
                    <p:cNvPr id="872" name="Google Shape;872;p29"/>
                    <p:cNvSpPr/>
                    <p:nvPr/>
                  </p:nvSpPr>
                  <p:spPr>
                    <a:xfrm flipH="1">
                      <a:off x="3696" y="3120"/>
                      <a:ext cx="48" cy="336"/>
                    </a:xfrm>
                    <a:prstGeom prst="leftBrace">
                      <a:avLst>
                        <a:gd fmla="val 8333" name="adj1"/>
                        <a:gd fmla="val 50000" name="adj2"/>
                      </a:avLst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p:txBody>
                </p:sp>
                <p:sp>
                  <p:nvSpPr>
                    <p:cNvPr id="873" name="Google Shape;873;p29"/>
                    <p:cNvSpPr txBox="1"/>
                    <p:nvPr/>
                  </p:nvSpPr>
                  <p:spPr>
                    <a:xfrm>
                      <a:off x="3709" y="3201"/>
                      <a:ext cx="144" cy="19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74" name="Google Shape;874;p29"/>
                    <p:cNvSpPr txBox="1"/>
                    <p:nvPr/>
                  </p:nvSpPr>
                  <p:spPr>
                    <a:xfrm>
                      <a:off x="3552" y="3072"/>
                      <a:ext cx="202" cy="42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875" name="Google Shape;875;p29"/>
                  <p:cNvGrpSpPr/>
                  <p:nvPr/>
                </p:nvGrpSpPr>
                <p:grpSpPr>
                  <a:xfrm>
                    <a:off x="4204" y="2736"/>
                    <a:ext cx="301" cy="426"/>
                    <a:chOff x="3552" y="3072"/>
                    <a:chExt cx="301" cy="426"/>
                  </a:xfrm>
                </p:grpSpPr>
                <p:sp>
                  <p:nvSpPr>
                    <p:cNvPr id="876" name="Google Shape;876;p29"/>
                    <p:cNvSpPr/>
                    <p:nvPr/>
                  </p:nvSpPr>
                  <p:spPr>
                    <a:xfrm flipH="1">
                      <a:off x="3696" y="3120"/>
                      <a:ext cx="48" cy="336"/>
                    </a:xfrm>
                    <a:prstGeom prst="leftBrace">
                      <a:avLst>
                        <a:gd fmla="val 8333" name="adj1"/>
                        <a:gd fmla="val 50000" name="adj2"/>
                      </a:avLst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p:txBody>
                </p:sp>
                <p:sp>
                  <p:nvSpPr>
                    <p:cNvPr id="877" name="Google Shape;877;p29"/>
                    <p:cNvSpPr txBox="1"/>
                    <p:nvPr/>
                  </p:nvSpPr>
                  <p:spPr>
                    <a:xfrm>
                      <a:off x="3709" y="3201"/>
                      <a:ext cx="144" cy="19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78" name="Google Shape;878;p29"/>
                    <p:cNvSpPr txBox="1"/>
                    <p:nvPr/>
                  </p:nvSpPr>
                  <p:spPr>
                    <a:xfrm>
                      <a:off x="3552" y="3072"/>
                      <a:ext cx="202" cy="42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879" name="Google Shape;879;p29"/>
                  <p:cNvGrpSpPr/>
                  <p:nvPr/>
                </p:nvGrpSpPr>
                <p:grpSpPr>
                  <a:xfrm>
                    <a:off x="4540" y="2448"/>
                    <a:ext cx="362" cy="426"/>
                    <a:chOff x="3392" y="3312"/>
                    <a:chExt cx="362" cy="426"/>
                  </a:xfrm>
                </p:grpSpPr>
                <p:sp>
                  <p:nvSpPr>
                    <p:cNvPr id="880" name="Google Shape;880;p29"/>
                    <p:cNvSpPr/>
                    <p:nvPr/>
                  </p:nvSpPr>
                  <p:spPr>
                    <a:xfrm>
                      <a:off x="3538" y="3346"/>
                      <a:ext cx="48" cy="336"/>
                    </a:xfrm>
                    <a:prstGeom prst="leftBrace">
                      <a:avLst>
                        <a:gd fmla="val 8333" name="adj1"/>
                        <a:gd fmla="val 50000" name="adj2"/>
                      </a:avLst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p:txBody>
                </p:sp>
                <p:sp>
                  <p:nvSpPr>
                    <p:cNvPr id="881" name="Google Shape;881;p29"/>
                    <p:cNvSpPr txBox="1"/>
                    <p:nvPr/>
                  </p:nvSpPr>
                  <p:spPr>
                    <a:xfrm>
                      <a:off x="3392" y="3441"/>
                      <a:ext cx="144" cy="19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82" name="Google Shape;882;p29"/>
                    <p:cNvSpPr txBox="1"/>
                    <p:nvPr/>
                  </p:nvSpPr>
                  <p:spPr>
                    <a:xfrm>
                      <a:off x="3552" y="3312"/>
                      <a:ext cx="202" cy="42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cxnSp>
              <p:nvCxnSpPr>
                <p:cNvPr id="883" name="Google Shape;883;p29"/>
                <p:cNvCxnSpPr/>
                <p:nvPr/>
              </p:nvCxnSpPr>
              <p:spPr>
                <a:xfrm>
                  <a:off x="3072" y="2160"/>
                  <a:ext cx="0" cy="192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84" name="Google Shape;884;p29"/>
                <p:cNvCxnSpPr/>
                <p:nvPr/>
              </p:nvCxnSpPr>
              <p:spPr>
                <a:xfrm>
                  <a:off x="3072" y="2544"/>
                  <a:ext cx="0" cy="576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85" name="Google Shape;885;p29"/>
                <p:cNvCxnSpPr/>
                <p:nvPr/>
              </p:nvCxnSpPr>
              <p:spPr>
                <a:xfrm>
                  <a:off x="3168" y="2640"/>
                  <a:ext cx="0" cy="768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86" name="Google Shape;886;p29"/>
                <p:cNvCxnSpPr/>
                <p:nvPr/>
              </p:nvCxnSpPr>
              <p:spPr>
                <a:xfrm>
                  <a:off x="3312" y="2256"/>
                  <a:ext cx="0" cy="1248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87" name="Google Shape;887;p29"/>
                <p:cNvCxnSpPr/>
                <p:nvPr/>
              </p:nvCxnSpPr>
              <p:spPr>
                <a:xfrm>
                  <a:off x="3216" y="3504"/>
                  <a:ext cx="192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88" name="Google Shape;888;p29"/>
                <p:cNvCxnSpPr/>
                <p:nvPr/>
              </p:nvCxnSpPr>
              <p:spPr>
                <a:xfrm>
                  <a:off x="3244" y="3533"/>
                  <a:ext cx="144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89" name="Google Shape;889;p29"/>
                <p:cNvCxnSpPr/>
                <p:nvPr/>
              </p:nvCxnSpPr>
              <p:spPr>
                <a:xfrm>
                  <a:off x="3264" y="3567"/>
                  <a:ext cx="96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890" name="Google Shape;890;p29"/>
                <p:cNvSpPr/>
                <p:nvPr/>
              </p:nvSpPr>
              <p:spPr>
                <a:xfrm>
                  <a:off x="3284" y="2708"/>
                  <a:ext cx="48" cy="48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891" name="Google Shape;891;p29"/>
                <p:cNvSpPr/>
                <p:nvPr/>
              </p:nvSpPr>
              <p:spPr>
                <a:xfrm>
                  <a:off x="3284" y="2812"/>
                  <a:ext cx="48" cy="48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892" name="Google Shape;892;p29"/>
                <p:cNvSpPr/>
                <p:nvPr/>
              </p:nvSpPr>
              <p:spPr>
                <a:xfrm>
                  <a:off x="3284" y="2992"/>
                  <a:ext cx="48" cy="48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893" name="Google Shape;893;p29"/>
                <p:cNvSpPr/>
                <p:nvPr/>
              </p:nvSpPr>
              <p:spPr>
                <a:xfrm>
                  <a:off x="3284" y="2324"/>
                  <a:ext cx="48" cy="48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894" name="Google Shape;894;p29"/>
                <p:cNvSpPr txBox="1"/>
                <p:nvPr/>
              </p:nvSpPr>
              <p:spPr>
                <a:xfrm>
                  <a:off x="3360" y="3092"/>
                  <a:ext cx="912" cy="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Parallel adder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95" name="Google Shape;895;p29"/>
              <p:cNvGrpSpPr/>
              <p:nvPr/>
            </p:nvGrpSpPr>
            <p:grpSpPr>
              <a:xfrm>
                <a:off x="75687" y="3577639"/>
                <a:ext cx="5701855" cy="3209735"/>
                <a:chOff x="1301" y="1776"/>
                <a:chExt cx="3726" cy="2063"/>
              </a:xfrm>
            </p:grpSpPr>
            <p:cxnSp>
              <p:nvCxnSpPr>
                <p:cNvPr id="896" name="Google Shape;896;p29"/>
                <p:cNvCxnSpPr/>
                <p:nvPr/>
              </p:nvCxnSpPr>
              <p:spPr>
                <a:xfrm>
                  <a:off x="1920" y="2064"/>
                  <a:ext cx="480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97" name="Google Shape;897;p29"/>
                <p:cNvCxnSpPr/>
                <p:nvPr/>
              </p:nvCxnSpPr>
              <p:spPr>
                <a:xfrm>
                  <a:off x="1920" y="2256"/>
                  <a:ext cx="480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98" name="Google Shape;898;p29"/>
                <p:cNvCxnSpPr/>
                <p:nvPr/>
              </p:nvCxnSpPr>
              <p:spPr>
                <a:xfrm>
                  <a:off x="2928" y="2064"/>
                  <a:ext cx="576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99" name="Google Shape;899;p29"/>
                <p:cNvCxnSpPr/>
                <p:nvPr/>
              </p:nvCxnSpPr>
              <p:spPr>
                <a:xfrm>
                  <a:off x="2928" y="2352"/>
                  <a:ext cx="144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900" name="Google Shape;900;p29"/>
                <p:cNvSpPr txBox="1"/>
                <p:nvPr/>
              </p:nvSpPr>
              <p:spPr>
                <a:xfrm>
                  <a:off x="1392" y="1968"/>
                  <a:ext cx="576" cy="2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Voter 7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1" name="Google Shape;901;p29"/>
                <p:cNvSpPr/>
                <p:nvPr/>
              </p:nvSpPr>
              <p:spPr>
                <a:xfrm flipH="1">
                  <a:off x="4416" y="2256"/>
                  <a:ext cx="48" cy="255"/>
                </a:xfrm>
                <a:prstGeom prst="leftBrace">
                  <a:avLst>
                    <a:gd fmla="val 8333" name="adj1"/>
                    <a:gd fmla="val 50000" name="adj2"/>
                  </a:avLst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902" name="Google Shape;902;p29"/>
                <p:cNvSpPr txBox="1"/>
                <p:nvPr/>
              </p:nvSpPr>
              <p:spPr>
                <a:xfrm>
                  <a:off x="4499" y="2193"/>
                  <a:ext cx="528" cy="3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3-bit Output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03" name="Google Shape;903;p29"/>
                <p:cNvGrpSpPr/>
                <p:nvPr/>
              </p:nvGrpSpPr>
              <p:grpSpPr>
                <a:xfrm>
                  <a:off x="2352" y="1776"/>
                  <a:ext cx="624" cy="816"/>
                  <a:chOff x="3312" y="912"/>
                  <a:chExt cx="624" cy="816"/>
                </a:xfrm>
              </p:grpSpPr>
              <p:sp>
                <p:nvSpPr>
                  <p:cNvPr id="904" name="Google Shape;904;p29"/>
                  <p:cNvSpPr txBox="1"/>
                  <p:nvPr/>
                </p:nvSpPr>
                <p:spPr>
                  <a:xfrm>
                    <a:off x="3360" y="960"/>
                    <a:ext cx="528" cy="768"/>
                  </a:xfrm>
                  <a:prstGeom prst="rect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  <p:sp>
                <p:nvSpPr>
                  <p:cNvPr id="905" name="Google Shape;905;p29"/>
                  <p:cNvSpPr txBox="1"/>
                  <p:nvPr/>
                </p:nvSpPr>
                <p:spPr>
                  <a:xfrm>
                    <a:off x="3312" y="1104"/>
                    <a:ext cx="240" cy="19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400"/>
                      <a:buFont typeface="Arial"/>
                      <a:buNone/>
                    </a:pPr>
                    <a:r>
                      <a:rPr b="1" i="0" lang="en-US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06" name="Google Shape;906;p29"/>
                  <p:cNvSpPr txBox="1"/>
                  <p:nvPr/>
                </p:nvSpPr>
                <p:spPr>
                  <a:xfrm>
                    <a:off x="3312" y="1296"/>
                    <a:ext cx="240" cy="19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400"/>
                      <a:buFont typeface="Arial"/>
                      <a:buNone/>
                    </a:pPr>
                    <a:r>
                      <a:rPr b="1" i="0" lang="en-US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B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07" name="Google Shape;907;p29"/>
                  <p:cNvSpPr txBox="1"/>
                  <p:nvPr/>
                </p:nvSpPr>
                <p:spPr>
                  <a:xfrm>
                    <a:off x="3504" y="912"/>
                    <a:ext cx="240" cy="21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Noto Sans Symbols"/>
                      <a:buNone/>
                    </a:pPr>
                    <a:r>
                      <a:rPr b="1" i="0" lang="en-US" sz="1600" u="none" cap="none" strike="noStrike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rPr>
                      <a:t>Σ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08" name="Google Shape;908;p29"/>
                  <p:cNvSpPr txBox="1"/>
                  <p:nvPr/>
                </p:nvSpPr>
                <p:spPr>
                  <a:xfrm>
                    <a:off x="3552" y="1392"/>
                    <a:ext cx="384" cy="19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400"/>
                      <a:buFont typeface="Arial"/>
                      <a:buNone/>
                    </a:pPr>
                    <a:r>
                      <a:rPr b="1" i="0" lang="en-US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Cout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09" name="Google Shape;909;p29"/>
                  <p:cNvSpPr txBox="1"/>
                  <p:nvPr/>
                </p:nvSpPr>
                <p:spPr>
                  <a:xfrm>
                    <a:off x="3696" y="1104"/>
                    <a:ext cx="240" cy="19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400"/>
                      <a:buFont typeface="Noto Sans Symbols"/>
                      <a:buNone/>
                    </a:pPr>
                    <a:r>
                      <a:rPr b="1" i="0" lang="en-US" sz="1400" u="none" cap="none" strike="noStrike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rPr>
                      <a:t>Σ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10" name="Google Shape;910;p29"/>
                  <p:cNvSpPr txBox="1"/>
                  <p:nvPr/>
                </p:nvSpPr>
                <p:spPr>
                  <a:xfrm>
                    <a:off x="3312" y="1488"/>
                    <a:ext cx="336" cy="19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400"/>
                      <a:buFont typeface="Arial"/>
                      <a:buNone/>
                    </a:pPr>
                    <a:r>
                      <a:rPr b="1" i="0" lang="en-US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Cin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911" name="Google Shape;911;p29"/>
                <p:cNvCxnSpPr/>
                <p:nvPr/>
              </p:nvCxnSpPr>
              <p:spPr>
                <a:xfrm>
                  <a:off x="1920" y="2448"/>
                  <a:ext cx="480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912" name="Google Shape;912;p29"/>
                <p:cNvSpPr txBox="1"/>
                <p:nvPr/>
              </p:nvSpPr>
              <p:spPr>
                <a:xfrm>
                  <a:off x="1392" y="2160"/>
                  <a:ext cx="576" cy="2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Voter 8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3" name="Google Shape;913;p29"/>
                <p:cNvSpPr txBox="1"/>
                <p:nvPr/>
              </p:nvSpPr>
              <p:spPr>
                <a:xfrm>
                  <a:off x="1392" y="2352"/>
                  <a:ext cx="576" cy="2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Voter 9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914" name="Google Shape;914;p29"/>
                <p:cNvCxnSpPr/>
                <p:nvPr/>
              </p:nvCxnSpPr>
              <p:spPr>
                <a:xfrm>
                  <a:off x="1920" y="3120"/>
                  <a:ext cx="480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15" name="Google Shape;915;p29"/>
                <p:cNvCxnSpPr/>
                <p:nvPr/>
              </p:nvCxnSpPr>
              <p:spPr>
                <a:xfrm>
                  <a:off x="1920" y="3312"/>
                  <a:ext cx="480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16" name="Google Shape;916;p29"/>
                <p:cNvCxnSpPr/>
                <p:nvPr/>
              </p:nvCxnSpPr>
              <p:spPr>
                <a:xfrm>
                  <a:off x="2928" y="3120"/>
                  <a:ext cx="144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17" name="Google Shape;917;p29"/>
                <p:cNvCxnSpPr/>
                <p:nvPr/>
              </p:nvCxnSpPr>
              <p:spPr>
                <a:xfrm>
                  <a:off x="2928" y="3408"/>
                  <a:ext cx="240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918" name="Google Shape;918;p29"/>
                <p:cNvSpPr txBox="1"/>
                <p:nvPr/>
              </p:nvSpPr>
              <p:spPr>
                <a:xfrm>
                  <a:off x="1301" y="3024"/>
                  <a:ext cx="667" cy="2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Voter 10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19" name="Google Shape;919;p29"/>
                <p:cNvGrpSpPr/>
                <p:nvPr/>
              </p:nvGrpSpPr>
              <p:grpSpPr>
                <a:xfrm>
                  <a:off x="2352" y="2832"/>
                  <a:ext cx="624" cy="816"/>
                  <a:chOff x="3312" y="912"/>
                  <a:chExt cx="624" cy="816"/>
                </a:xfrm>
              </p:grpSpPr>
              <p:sp>
                <p:nvSpPr>
                  <p:cNvPr id="920" name="Google Shape;920;p29"/>
                  <p:cNvSpPr txBox="1"/>
                  <p:nvPr/>
                </p:nvSpPr>
                <p:spPr>
                  <a:xfrm>
                    <a:off x="3360" y="960"/>
                    <a:ext cx="528" cy="768"/>
                  </a:xfrm>
                  <a:prstGeom prst="rect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  <p:sp>
                <p:nvSpPr>
                  <p:cNvPr id="921" name="Google Shape;921;p29"/>
                  <p:cNvSpPr txBox="1"/>
                  <p:nvPr/>
                </p:nvSpPr>
                <p:spPr>
                  <a:xfrm>
                    <a:off x="3312" y="1104"/>
                    <a:ext cx="240" cy="19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400"/>
                      <a:buFont typeface="Arial"/>
                      <a:buNone/>
                    </a:pPr>
                    <a:r>
                      <a:rPr b="1" i="0" lang="en-US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22" name="Google Shape;922;p29"/>
                  <p:cNvSpPr txBox="1"/>
                  <p:nvPr/>
                </p:nvSpPr>
                <p:spPr>
                  <a:xfrm>
                    <a:off x="3312" y="1296"/>
                    <a:ext cx="240" cy="19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400"/>
                      <a:buFont typeface="Arial"/>
                      <a:buNone/>
                    </a:pPr>
                    <a:r>
                      <a:rPr b="1" i="0" lang="en-US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B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23" name="Google Shape;923;p29"/>
                  <p:cNvSpPr txBox="1"/>
                  <p:nvPr/>
                </p:nvSpPr>
                <p:spPr>
                  <a:xfrm>
                    <a:off x="3504" y="912"/>
                    <a:ext cx="240" cy="21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Noto Sans Symbols"/>
                      <a:buNone/>
                    </a:pPr>
                    <a:r>
                      <a:rPr b="1" i="0" lang="en-US" sz="1600" u="none" cap="none" strike="noStrike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rPr>
                      <a:t>Σ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24" name="Google Shape;924;p29"/>
                  <p:cNvSpPr txBox="1"/>
                  <p:nvPr/>
                </p:nvSpPr>
                <p:spPr>
                  <a:xfrm>
                    <a:off x="3552" y="1392"/>
                    <a:ext cx="384" cy="19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400"/>
                      <a:buFont typeface="Arial"/>
                      <a:buNone/>
                    </a:pPr>
                    <a:r>
                      <a:rPr b="1" i="0" lang="en-US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Cout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25" name="Google Shape;925;p29"/>
                  <p:cNvSpPr txBox="1"/>
                  <p:nvPr/>
                </p:nvSpPr>
                <p:spPr>
                  <a:xfrm>
                    <a:off x="3696" y="1104"/>
                    <a:ext cx="240" cy="19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400"/>
                      <a:buFont typeface="Noto Sans Symbols"/>
                      <a:buNone/>
                    </a:pPr>
                    <a:r>
                      <a:rPr b="1" i="0" lang="en-US" sz="1400" u="none" cap="none" strike="noStrike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rPr>
                      <a:t>Σ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26" name="Google Shape;926;p29"/>
                  <p:cNvSpPr txBox="1"/>
                  <p:nvPr/>
                </p:nvSpPr>
                <p:spPr>
                  <a:xfrm>
                    <a:off x="3312" y="1488"/>
                    <a:ext cx="336" cy="19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400"/>
                      <a:buFont typeface="Arial"/>
                      <a:buNone/>
                    </a:pPr>
                    <a:r>
                      <a:rPr b="1" i="0" lang="en-US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Cin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927" name="Google Shape;927;p29"/>
                <p:cNvCxnSpPr/>
                <p:nvPr/>
              </p:nvCxnSpPr>
              <p:spPr>
                <a:xfrm>
                  <a:off x="1920" y="3504"/>
                  <a:ext cx="480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928" name="Google Shape;928;p29"/>
                <p:cNvSpPr txBox="1"/>
                <p:nvPr/>
              </p:nvSpPr>
              <p:spPr>
                <a:xfrm>
                  <a:off x="1301" y="3216"/>
                  <a:ext cx="667" cy="2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Voter 11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9" name="Google Shape;929;p29"/>
                <p:cNvSpPr txBox="1"/>
                <p:nvPr/>
              </p:nvSpPr>
              <p:spPr>
                <a:xfrm>
                  <a:off x="1301" y="3408"/>
                  <a:ext cx="667" cy="2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Voter 12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" name="Google Shape;930;p29"/>
                <p:cNvSpPr txBox="1"/>
                <p:nvPr/>
              </p:nvSpPr>
              <p:spPr>
                <a:xfrm>
                  <a:off x="2256" y="2553"/>
                  <a:ext cx="864" cy="2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Full-adder 3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1" name="Google Shape;931;p29"/>
                <p:cNvSpPr txBox="1"/>
                <p:nvPr/>
              </p:nvSpPr>
              <p:spPr>
                <a:xfrm>
                  <a:off x="2256" y="3621"/>
                  <a:ext cx="864" cy="2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Full-adder 4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932" name="Google Shape;932;p29"/>
                <p:cNvCxnSpPr/>
                <p:nvPr/>
              </p:nvCxnSpPr>
              <p:spPr>
                <a:xfrm>
                  <a:off x="3072" y="2160"/>
                  <a:ext cx="432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33" name="Google Shape;933;p29"/>
                <p:cNvCxnSpPr/>
                <p:nvPr/>
              </p:nvCxnSpPr>
              <p:spPr>
                <a:xfrm>
                  <a:off x="3312" y="2256"/>
                  <a:ext cx="192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34" name="Google Shape;934;p29"/>
                <p:cNvCxnSpPr/>
                <p:nvPr/>
              </p:nvCxnSpPr>
              <p:spPr>
                <a:xfrm>
                  <a:off x="3312" y="2352"/>
                  <a:ext cx="192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35" name="Google Shape;935;p29"/>
                <p:cNvCxnSpPr/>
                <p:nvPr/>
              </p:nvCxnSpPr>
              <p:spPr>
                <a:xfrm>
                  <a:off x="3072" y="2544"/>
                  <a:ext cx="432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36" name="Google Shape;936;p29"/>
                <p:cNvCxnSpPr/>
                <p:nvPr/>
              </p:nvCxnSpPr>
              <p:spPr>
                <a:xfrm>
                  <a:off x="3168" y="2640"/>
                  <a:ext cx="336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37" name="Google Shape;937;p29"/>
                <p:cNvCxnSpPr/>
                <p:nvPr/>
              </p:nvCxnSpPr>
              <p:spPr>
                <a:xfrm>
                  <a:off x="3312" y="2736"/>
                  <a:ext cx="192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38" name="Google Shape;938;p29"/>
                <p:cNvCxnSpPr/>
                <p:nvPr/>
              </p:nvCxnSpPr>
              <p:spPr>
                <a:xfrm>
                  <a:off x="3312" y="2832"/>
                  <a:ext cx="192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39" name="Google Shape;939;p29"/>
                <p:cNvCxnSpPr/>
                <p:nvPr/>
              </p:nvCxnSpPr>
              <p:spPr>
                <a:xfrm>
                  <a:off x="3312" y="3024"/>
                  <a:ext cx="192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40" name="Google Shape;940;p29"/>
                <p:cNvCxnSpPr/>
                <p:nvPr/>
              </p:nvCxnSpPr>
              <p:spPr>
                <a:xfrm>
                  <a:off x="4128" y="2271"/>
                  <a:ext cx="240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41" name="Google Shape;941;p29"/>
                <p:cNvCxnSpPr/>
                <p:nvPr/>
              </p:nvCxnSpPr>
              <p:spPr>
                <a:xfrm>
                  <a:off x="4128" y="2367"/>
                  <a:ext cx="240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42" name="Google Shape;942;p29"/>
                <p:cNvCxnSpPr/>
                <p:nvPr/>
              </p:nvCxnSpPr>
              <p:spPr>
                <a:xfrm>
                  <a:off x="4128" y="2463"/>
                  <a:ext cx="240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943" name="Google Shape;943;p29"/>
                <p:cNvGrpSpPr/>
                <p:nvPr/>
              </p:nvGrpSpPr>
              <p:grpSpPr>
                <a:xfrm>
                  <a:off x="3476" y="1920"/>
                  <a:ext cx="706" cy="1200"/>
                  <a:chOff x="4196" y="2160"/>
                  <a:chExt cx="706" cy="1200"/>
                </a:xfrm>
              </p:grpSpPr>
              <p:sp>
                <p:nvSpPr>
                  <p:cNvPr id="944" name="Google Shape;944;p29"/>
                  <p:cNvSpPr txBox="1"/>
                  <p:nvPr/>
                </p:nvSpPr>
                <p:spPr>
                  <a:xfrm>
                    <a:off x="4224" y="2160"/>
                    <a:ext cx="624" cy="1200"/>
                  </a:xfrm>
                  <a:prstGeom prst="rect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  <p:sp>
                <p:nvSpPr>
                  <p:cNvPr id="945" name="Google Shape;945;p29"/>
                  <p:cNvSpPr txBox="1"/>
                  <p:nvPr/>
                </p:nvSpPr>
                <p:spPr>
                  <a:xfrm>
                    <a:off x="4416" y="2160"/>
                    <a:ext cx="240" cy="21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Noto Sans Symbols"/>
                      <a:buNone/>
                    </a:pPr>
                    <a:r>
                      <a:rPr b="1" i="0" lang="en-US" sz="1600" u="none" cap="none" strike="noStrike">
                        <a:solidFill>
                          <a:schemeClr val="dk1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rPr>
                      <a:t>Σ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46" name="Google Shape;946;p29"/>
                  <p:cNvSpPr txBox="1"/>
                  <p:nvPr/>
                </p:nvSpPr>
                <p:spPr>
                  <a:xfrm>
                    <a:off x="4512" y="2976"/>
                    <a:ext cx="384" cy="19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400"/>
                      <a:buFont typeface="Arial"/>
                      <a:buNone/>
                    </a:pPr>
                    <a:r>
                      <a:rPr b="1" i="0" lang="en-US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Cout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47" name="Google Shape;947;p29"/>
                  <p:cNvSpPr txBox="1"/>
                  <p:nvPr/>
                </p:nvSpPr>
                <p:spPr>
                  <a:xfrm>
                    <a:off x="4224" y="3168"/>
                    <a:ext cx="336" cy="19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400"/>
                      <a:buFont typeface="Arial"/>
                      <a:buNone/>
                    </a:pPr>
                    <a:r>
                      <a:rPr b="1" i="0" lang="en-US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Cin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948" name="Google Shape;948;p29"/>
                  <p:cNvGrpSpPr/>
                  <p:nvPr/>
                </p:nvGrpSpPr>
                <p:grpSpPr>
                  <a:xfrm>
                    <a:off x="4196" y="2256"/>
                    <a:ext cx="301" cy="426"/>
                    <a:chOff x="3552" y="3072"/>
                    <a:chExt cx="301" cy="426"/>
                  </a:xfrm>
                </p:grpSpPr>
                <p:sp>
                  <p:nvSpPr>
                    <p:cNvPr id="949" name="Google Shape;949;p29"/>
                    <p:cNvSpPr/>
                    <p:nvPr/>
                  </p:nvSpPr>
                  <p:spPr>
                    <a:xfrm flipH="1">
                      <a:off x="3696" y="3120"/>
                      <a:ext cx="48" cy="336"/>
                    </a:xfrm>
                    <a:prstGeom prst="leftBrace">
                      <a:avLst>
                        <a:gd fmla="val 8333" name="adj1"/>
                        <a:gd fmla="val 50000" name="adj2"/>
                      </a:avLst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p:txBody>
                </p:sp>
                <p:sp>
                  <p:nvSpPr>
                    <p:cNvPr id="950" name="Google Shape;950;p29"/>
                    <p:cNvSpPr txBox="1"/>
                    <p:nvPr/>
                  </p:nvSpPr>
                  <p:spPr>
                    <a:xfrm>
                      <a:off x="3709" y="3201"/>
                      <a:ext cx="144" cy="19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951" name="Google Shape;951;p29"/>
                    <p:cNvSpPr txBox="1"/>
                    <p:nvPr/>
                  </p:nvSpPr>
                  <p:spPr>
                    <a:xfrm>
                      <a:off x="3552" y="3072"/>
                      <a:ext cx="202" cy="42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952" name="Google Shape;952;p29"/>
                  <p:cNvGrpSpPr/>
                  <p:nvPr/>
                </p:nvGrpSpPr>
                <p:grpSpPr>
                  <a:xfrm>
                    <a:off x="4204" y="2736"/>
                    <a:ext cx="301" cy="426"/>
                    <a:chOff x="3552" y="3072"/>
                    <a:chExt cx="301" cy="426"/>
                  </a:xfrm>
                </p:grpSpPr>
                <p:sp>
                  <p:nvSpPr>
                    <p:cNvPr id="953" name="Google Shape;953;p29"/>
                    <p:cNvSpPr/>
                    <p:nvPr/>
                  </p:nvSpPr>
                  <p:spPr>
                    <a:xfrm flipH="1">
                      <a:off x="3696" y="3120"/>
                      <a:ext cx="48" cy="336"/>
                    </a:xfrm>
                    <a:prstGeom prst="leftBrace">
                      <a:avLst>
                        <a:gd fmla="val 8333" name="adj1"/>
                        <a:gd fmla="val 50000" name="adj2"/>
                      </a:avLst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p:txBody>
                </p:sp>
                <p:sp>
                  <p:nvSpPr>
                    <p:cNvPr id="954" name="Google Shape;954;p29"/>
                    <p:cNvSpPr txBox="1"/>
                    <p:nvPr/>
                  </p:nvSpPr>
                  <p:spPr>
                    <a:xfrm>
                      <a:off x="3709" y="3201"/>
                      <a:ext cx="144" cy="19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955" name="Google Shape;955;p29"/>
                    <p:cNvSpPr txBox="1"/>
                    <p:nvPr/>
                  </p:nvSpPr>
                  <p:spPr>
                    <a:xfrm>
                      <a:off x="3552" y="3072"/>
                      <a:ext cx="202" cy="42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956" name="Google Shape;956;p29"/>
                  <p:cNvGrpSpPr/>
                  <p:nvPr/>
                </p:nvGrpSpPr>
                <p:grpSpPr>
                  <a:xfrm>
                    <a:off x="4540" y="2448"/>
                    <a:ext cx="362" cy="426"/>
                    <a:chOff x="3392" y="3312"/>
                    <a:chExt cx="362" cy="426"/>
                  </a:xfrm>
                </p:grpSpPr>
                <p:sp>
                  <p:nvSpPr>
                    <p:cNvPr id="957" name="Google Shape;957;p29"/>
                    <p:cNvSpPr/>
                    <p:nvPr/>
                  </p:nvSpPr>
                  <p:spPr>
                    <a:xfrm>
                      <a:off x="3538" y="3346"/>
                      <a:ext cx="48" cy="336"/>
                    </a:xfrm>
                    <a:prstGeom prst="leftBrace">
                      <a:avLst>
                        <a:gd fmla="val 8333" name="adj1"/>
                        <a:gd fmla="val 50000" name="adj2"/>
                      </a:avLst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p:txBody>
                </p:sp>
                <p:sp>
                  <p:nvSpPr>
                    <p:cNvPr id="958" name="Google Shape;958;p29"/>
                    <p:cNvSpPr txBox="1"/>
                    <p:nvPr/>
                  </p:nvSpPr>
                  <p:spPr>
                    <a:xfrm>
                      <a:off x="3392" y="3441"/>
                      <a:ext cx="144" cy="19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959" name="Google Shape;959;p29"/>
                    <p:cNvSpPr txBox="1"/>
                    <p:nvPr/>
                  </p:nvSpPr>
                  <p:spPr>
                    <a:xfrm>
                      <a:off x="3552" y="3312"/>
                      <a:ext cx="202" cy="42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cxnSp>
              <p:nvCxnSpPr>
                <p:cNvPr id="960" name="Google Shape;960;p29"/>
                <p:cNvCxnSpPr/>
                <p:nvPr/>
              </p:nvCxnSpPr>
              <p:spPr>
                <a:xfrm>
                  <a:off x="3072" y="2160"/>
                  <a:ext cx="0" cy="192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61" name="Google Shape;961;p29"/>
                <p:cNvCxnSpPr/>
                <p:nvPr/>
              </p:nvCxnSpPr>
              <p:spPr>
                <a:xfrm>
                  <a:off x="3072" y="2544"/>
                  <a:ext cx="0" cy="576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62" name="Google Shape;962;p29"/>
                <p:cNvCxnSpPr/>
                <p:nvPr/>
              </p:nvCxnSpPr>
              <p:spPr>
                <a:xfrm>
                  <a:off x="3168" y="2640"/>
                  <a:ext cx="0" cy="768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63" name="Google Shape;963;p29"/>
                <p:cNvCxnSpPr/>
                <p:nvPr/>
              </p:nvCxnSpPr>
              <p:spPr>
                <a:xfrm>
                  <a:off x="3312" y="2256"/>
                  <a:ext cx="0" cy="1248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64" name="Google Shape;964;p29"/>
                <p:cNvCxnSpPr/>
                <p:nvPr/>
              </p:nvCxnSpPr>
              <p:spPr>
                <a:xfrm>
                  <a:off x="3216" y="3504"/>
                  <a:ext cx="192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65" name="Google Shape;965;p29"/>
                <p:cNvCxnSpPr/>
                <p:nvPr/>
              </p:nvCxnSpPr>
              <p:spPr>
                <a:xfrm>
                  <a:off x="3244" y="3533"/>
                  <a:ext cx="144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66" name="Google Shape;966;p29"/>
                <p:cNvCxnSpPr/>
                <p:nvPr/>
              </p:nvCxnSpPr>
              <p:spPr>
                <a:xfrm>
                  <a:off x="3264" y="3567"/>
                  <a:ext cx="96" cy="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967" name="Google Shape;967;p29"/>
                <p:cNvSpPr/>
                <p:nvPr/>
              </p:nvSpPr>
              <p:spPr>
                <a:xfrm>
                  <a:off x="3284" y="2708"/>
                  <a:ext cx="48" cy="48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968" name="Google Shape;968;p29"/>
                <p:cNvSpPr/>
                <p:nvPr/>
              </p:nvSpPr>
              <p:spPr>
                <a:xfrm>
                  <a:off x="3284" y="2812"/>
                  <a:ext cx="48" cy="48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969" name="Google Shape;969;p29"/>
                <p:cNvSpPr/>
                <p:nvPr/>
              </p:nvSpPr>
              <p:spPr>
                <a:xfrm>
                  <a:off x="3284" y="2992"/>
                  <a:ext cx="48" cy="48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970" name="Google Shape;970;p29"/>
                <p:cNvSpPr/>
                <p:nvPr/>
              </p:nvSpPr>
              <p:spPr>
                <a:xfrm>
                  <a:off x="3284" y="2324"/>
                  <a:ext cx="48" cy="48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971" name="Google Shape;971;p29"/>
                <p:cNvSpPr txBox="1"/>
                <p:nvPr/>
              </p:nvSpPr>
              <p:spPr>
                <a:xfrm>
                  <a:off x="3360" y="3092"/>
                  <a:ext cx="912" cy="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Parallel adder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72" name="Google Shape;972;p29"/>
              <p:cNvGrpSpPr/>
              <p:nvPr/>
            </p:nvGrpSpPr>
            <p:grpSpPr>
              <a:xfrm>
                <a:off x="4700372" y="1170605"/>
                <a:ext cx="2221054" cy="3494209"/>
                <a:chOff x="4713536" y="1160043"/>
                <a:chExt cx="2221054" cy="3494209"/>
              </a:xfrm>
            </p:grpSpPr>
            <p:cxnSp>
              <p:nvCxnSpPr>
                <p:cNvPr id="973" name="Google Shape;973;p29"/>
                <p:cNvCxnSpPr/>
                <p:nvPr/>
              </p:nvCxnSpPr>
              <p:spPr>
                <a:xfrm flipH="1" rot="-5400000">
                  <a:off x="5223968" y="1002050"/>
                  <a:ext cx="1246230" cy="2175014"/>
                </a:xfrm>
                <a:prstGeom prst="bentConnector4">
                  <a:avLst>
                    <a:gd fmla="val -1400" name="adj1"/>
                    <a:gd fmla="val 10926" name="adj2"/>
                  </a:avLst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74" name="Google Shape;974;p29"/>
                <p:cNvCxnSpPr/>
                <p:nvPr/>
              </p:nvCxnSpPr>
              <p:spPr>
                <a:xfrm flipH="1">
                  <a:off x="4713536" y="3169888"/>
                  <a:ext cx="2221054" cy="1177966"/>
                </a:xfrm>
                <a:prstGeom prst="bentConnector3">
                  <a:avLst>
                    <a:gd fmla="val 12136" name="adj1"/>
                  </a:avLst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75" name="Google Shape;975;p29"/>
                <p:cNvCxnSpPr/>
                <p:nvPr/>
              </p:nvCxnSpPr>
              <p:spPr>
                <a:xfrm flipH="1">
                  <a:off x="4777040" y="3338168"/>
                  <a:ext cx="2157550" cy="1166853"/>
                </a:xfrm>
                <a:prstGeom prst="bentConnector3">
                  <a:avLst>
                    <a:gd fmla="val 49390" name="adj1"/>
                  </a:avLst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76" name="Google Shape;976;p29"/>
                <p:cNvCxnSpPr/>
                <p:nvPr/>
              </p:nvCxnSpPr>
              <p:spPr>
                <a:xfrm flipH="1" rot="10800000">
                  <a:off x="5254908" y="3433422"/>
                  <a:ext cx="1679682" cy="1209717"/>
                </a:xfrm>
                <a:prstGeom prst="bentConnector3">
                  <a:avLst>
                    <a:gd fmla="val 50784" name="adj1"/>
                  </a:avLst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77" name="Google Shape;977;p29"/>
                <p:cNvCxnSpPr/>
                <p:nvPr/>
              </p:nvCxnSpPr>
              <p:spPr>
                <a:xfrm>
                  <a:off x="4769102" y="4646314"/>
                  <a:ext cx="449292" cy="793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78" name="Google Shape;978;p29"/>
                <p:cNvCxnSpPr/>
                <p:nvPr/>
              </p:nvCxnSpPr>
              <p:spPr>
                <a:xfrm>
                  <a:off x="4777040" y="1160043"/>
                  <a:ext cx="2157550" cy="1285920"/>
                </a:xfrm>
                <a:prstGeom prst="bentConnector3">
                  <a:avLst>
                    <a:gd fmla="val 50610" name="adj1"/>
                  </a:avLst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79" name="Google Shape;979;p29"/>
                <p:cNvCxnSpPr/>
                <p:nvPr/>
              </p:nvCxnSpPr>
              <p:spPr>
                <a:xfrm flipH="1" rot="-5400000">
                  <a:off x="5200948" y="875839"/>
                  <a:ext cx="1292270" cy="2175014"/>
                </a:xfrm>
                <a:prstGeom prst="bentConnector4">
                  <a:avLst>
                    <a:gd fmla="val -1805" name="adj1"/>
                    <a:gd fmla="val 11603" name="adj2"/>
                  </a:avLst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32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 it yourself</a:t>
            </a:r>
            <a:endParaRPr/>
          </a:p>
        </p:txBody>
      </p:sp>
      <p:sp>
        <p:nvSpPr>
          <p:cNvPr id="985" name="Google Shape;985;p32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BCD to excess 3 code converter using </a:t>
            </a: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4-bit Parallel adder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33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BCD to excess 3 code converter</a:t>
            </a:r>
            <a:endParaRPr/>
          </a:p>
        </p:txBody>
      </p:sp>
      <p:pic>
        <p:nvPicPr>
          <p:cNvPr id="991" name="Google Shape;991;p3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362200"/>
            <a:ext cx="3000375" cy="3109912"/>
          </a:xfrm>
          <a:prstGeom prst="rect">
            <a:avLst/>
          </a:prstGeom>
          <a:noFill/>
          <a:ln>
            <a:noFill/>
          </a:ln>
        </p:spPr>
      </p:pic>
      <p:sp>
        <p:nvSpPr>
          <p:cNvPr id="992" name="Google Shape;992;p33"/>
          <p:cNvSpPr txBox="1"/>
          <p:nvPr/>
        </p:nvSpPr>
        <p:spPr>
          <a:xfrm>
            <a:off x="1828800" y="2178050"/>
            <a:ext cx="15240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used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33"/>
          <p:cNvSpPr txBox="1"/>
          <p:nvPr/>
        </p:nvSpPr>
        <p:spPr>
          <a:xfrm>
            <a:off x="4572000" y="2362200"/>
            <a:ext cx="4343400" cy="2678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Inspection of truth table of ‘excess 3 from bcd’ shows that we can get excess-3 code from bcd by adding ‘0011’ to each BCD number. This addition can be implemented by means of 4-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full adder MSI circuit.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4" name="Google Shape;994;p33"/>
          <p:cNvGrpSpPr/>
          <p:nvPr/>
        </p:nvGrpSpPr>
        <p:grpSpPr>
          <a:xfrm>
            <a:off x="152400" y="2178050"/>
            <a:ext cx="1524000" cy="869950"/>
            <a:chOff x="152400" y="2178050"/>
            <a:chExt cx="1524000" cy="869950"/>
          </a:xfrm>
        </p:grpSpPr>
        <p:cxnSp>
          <p:nvCxnSpPr>
            <p:cNvPr id="995" name="Google Shape;995;p33"/>
            <p:cNvCxnSpPr/>
            <p:nvPr/>
          </p:nvCxnSpPr>
          <p:spPr>
            <a:xfrm>
              <a:off x="838200" y="2667000"/>
              <a:ext cx="838200" cy="3810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996" name="Google Shape;996;p33"/>
            <p:cNvSpPr/>
            <p:nvPr/>
          </p:nvSpPr>
          <p:spPr>
            <a:xfrm>
              <a:off x="152400" y="2178050"/>
              <a:ext cx="1371600" cy="48895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12700">
              <a:solidFill>
                <a:srgbClr val="00956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A1 is LSB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7" name="Google Shape;997;p33"/>
          <p:cNvGrpSpPr/>
          <p:nvPr/>
        </p:nvGrpSpPr>
        <p:grpSpPr>
          <a:xfrm>
            <a:off x="0" y="4068762"/>
            <a:ext cx="1628775" cy="1144587"/>
            <a:chOff x="-152400" y="3917156"/>
            <a:chExt cx="1628775" cy="1143794"/>
          </a:xfrm>
        </p:grpSpPr>
        <p:cxnSp>
          <p:nvCxnSpPr>
            <p:cNvPr id="998" name="Google Shape;998;p33"/>
            <p:cNvCxnSpPr/>
            <p:nvPr/>
          </p:nvCxnSpPr>
          <p:spPr>
            <a:xfrm flipH="1" rot="10800000">
              <a:off x="523875" y="3917156"/>
              <a:ext cx="952500" cy="613936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999" name="Google Shape;999;p33"/>
            <p:cNvSpPr/>
            <p:nvPr/>
          </p:nvSpPr>
          <p:spPr>
            <a:xfrm>
              <a:off x="-152400" y="4572339"/>
              <a:ext cx="1143000" cy="488611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12700">
              <a:solidFill>
                <a:srgbClr val="00956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Times New Roman"/>
                <a:buNone/>
              </a:pPr>
              <a:r>
                <a:rPr b="0" i="0" lang="en-US" sz="14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B1 is LSB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0" name="Google Shape;1000;p33"/>
          <p:cNvGrpSpPr/>
          <p:nvPr/>
        </p:nvGrpSpPr>
        <p:grpSpPr>
          <a:xfrm>
            <a:off x="2995612" y="2139950"/>
            <a:ext cx="1295400" cy="1441450"/>
            <a:chOff x="-304800" y="4572000"/>
            <a:chExt cx="1295400" cy="1441053"/>
          </a:xfrm>
        </p:grpSpPr>
        <p:cxnSp>
          <p:nvCxnSpPr>
            <p:cNvPr id="1001" name="Google Shape;1001;p33"/>
            <p:cNvCxnSpPr/>
            <p:nvPr/>
          </p:nvCxnSpPr>
          <p:spPr>
            <a:xfrm flipH="1">
              <a:off x="-304800" y="5098905"/>
              <a:ext cx="509587" cy="914148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002" name="Google Shape;1002;p33"/>
            <p:cNvSpPr/>
            <p:nvPr/>
          </p:nvSpPr>
          <p:spPr>
            <a:xfrm>
              <a:off x="-152400" y="4572000"/>
              <a:ext cx="1143000" cy="488815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12700">
              <a:solidFill>
                <a:srgbClr val="00956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Times New Roman"/>
                <a:buNone/>
              </a:pPr>
              <a:r>
                <a:rPr b="0" i="0" lang="en-US" sz="14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Y1 is LSB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34"/>
          <p:cNvSpPr txBox="1"/>
          <p:nvPr>
            <p:ph type="title"/>
          </p:nvPr>
        </p:nvSpPr>
        <p:spPr>
          <a:xfrm>
            <a:off x="12192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Converters</a:t>
            </a:r>
            <a:endParaRPr/>
          </a:p>
        </p:txBody>
      </p:sp>
      <p:sp>
        <p:nvSpPr>
          <p:cNvPr id="1008" name="Google Shape;1008;p34"/>
          <p:cNvSpPr txBox="1"/>
          <p:nvPr>
            <p:ph idx="1" type="body"/>
          </p:nvPr>
        </p:nvSpPr>
        <p:spPr>
          <a:xfrm>
            <a:off x="1143000" y="13716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converters – take an input code, translate to its equivalent output code. </a:t>
            </a:r>
            <a:endParaRPr/>
          </a:p>
        </p:txBody>
      </p:sp>
      <p:sp>
        <p:nvSpPr>
          <p:cNvPr id="1009" name="Google Shape;1009;p34"/>
          <p:cNvSpPr txBox="1"/>
          <p:nvPr/>
        </p:nvSpPr>
        <p:spPr>
          <a:xfrm>
            <a:off x="1981200" y="45720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10" name="Google Shape;1010;p34"/>
          <p:cNvGrpSpPr/>
          <p:nvPr/>
        </p:nvGrpSpPr>
        <p:grpSpPr>
          <a:xfrm>
            <a:off x="2438400" y="2438400"/>
            <a:ext cx="5105400" cy="990600"/>
            <a:chOff x="1536" y="1728"/>
            <a:chExt cx="3216" cy="624"/>
          </a:xfrm>
        </p:grpSpPr>
        <p:sp>
          <p:nvSpPr>
            <p:cNvPr id="1011" name="Google Shape;1011;p34"/>
            <p:cNvSpPr txBox="1"/>
            <p:nvPr/>
          </p:nvSpPr>
          <p:spPr>
            <a:xfrm>
              <a:off x="2640" y="1728"/>
              <a:ext cx="912" cy="624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2" name="Google Shape;1012;p34"/>
            <p:cNvSpPr txBox="1"/>
            <p:nvPr/>
          </p:nvSpPr>
          <p:spPr>
            <a:xfrm>
              <a:off x="2688" y="1824"/>
              <a:ext cx="816" cy="4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Code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converter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13" name="Google Shape;1013;p34"/>
            <p:cNvCxnSpPr/>
            <p:nvPr/>
          </p:nvCxnSpPr>
          <p:spPr>
            <a:xfrm>
              <a:off x="2064" y="1824"/>
              <a:ext cx="576" cy="1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014" name="Google Shape;1014;p34"/>
            <p:cNvCxnSpPr/>
            <p:nvPr/>
          </p:nvCxnSpPr>
          <p:spPr>
            <a:xfrm>
              <a:off x="2064" y="1968"/>
              <a:ext cx="576" cy="1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015" name="Google Shape;1015;p34"/>
            <p:cNvSpPr txBox="1"/>
            <p:nvPr/>
          </p:nvSpPr>
          <p:spPr>
            <a:xfrm>
              <a:off x="1536" y="1872"/>
              <a:ext cx="528" cy="4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Input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code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16" name="Google Shape;1016;p34"/>
            <p:cNvCxnSpPr/>
            <p:nvPr/>
          </p:nvCxnSpPr>
          <p:spPr>
            <a:xfrm>
              <a:off x="2064" y="2112"/>
              <a:ext cx="576" cy="1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017" name="Google Shape;1017;p34"/>
            <p:cNvCxnSpPr/>
            <p:nvPr/>
          </p:nvCxnSpPr>
          <p:spPr>
            <a:xfrm>
              <a:off x="2064" y="2256"/>
              <a:ext cx="576" cy="1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018" name="Google Shape;1018;p34"/>
            <p:cNvCxnSpPr/>
            <p:nvPr/>
          </p:nvCxnSpPr>
          <p:spPr>
            <a:xfrm>
              <a:off x="3552" y="1824"/>
              <a:ext cx="576" cy="1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019" name="Google Shape;1019;p34"/>
            <p:cNvCxnSpPr/>
            <p:nvPr/>
          </p:nvCxnSpPr>
          <p:spPr>
            <a:xfrm>
              <a:off x="3552" y="1968"/>
              <a:ext cx="576" cy="1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020" name="Google Shape;1020;p34"/>
            <p:cNvSpPr txBox="1"/>
            <p:nvPr/>
          </p:nvSpPr>
          <p:spPr>
            <a:xfrm>
              <a:off x="4176" y="1872"/>
              <a:ext cx="576" cy="4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Output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code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21" name="Google Shape;1021;p34"/>
            <p:cNvCxnSpPr/>
            <p:nvPr/>
          </p:nvCxnSpPr>
          <p:spPr>
            <a:xfrm>
              <a:off x="3552" y="2112"/>
              <a:ext cx="576" cy="1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022" name="Google Shape;1022;p34"/>
            <p:cNvCxnSpPr/>
            <p:nvPr/>
          </p:nvCxnSpPr>
          <p:spPr>
            <a:xfrm>
              <a:off x="3552" y="2256"/>
              <a:ext cx="576" cy="1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1023" name="Google Shape;1023;p34"/>
          <p:cNvSpPr txBox="1"/>
          <p:nvPr/>
        </p:nvSpPr>
        <p:spPr>
          <a:xfrm>
            <a:off x="1143000" y="3810000"/>
            <a:ext cx="7696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BCD to Excess-3 Code Converter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Input: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BCD digit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Excess-3 digit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khadija rasul</dc:creator>
</cp:coreProperties>
</file>